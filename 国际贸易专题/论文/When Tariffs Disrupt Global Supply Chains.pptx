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65A8"/>
    <a:srgbClr val="153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387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713232"/>
            <a:ext cx="73152" cy="5303520"/>
          </a:xfrm>
          <a:prstGeom prst="rect">
            <a:avLst/>
          </a:prstGeom>
          <a:solidFill>
            <a:srgbClr val="4B83C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1174487"/>
            <a:ext cx="6371937" cy="14773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dirty="0">
                <a:solidFill>
                  <a:srgbClr val="FFFFFF"/>
                </a:solidFill>
                <a:latin typeface="Arial"/>
                <a:ea typeface="Arial"/>
              </a:rPr>
              <a:t>When Tariffs Disrupt
Global Supply Chains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2855536"/>
            <a:ext cx="713232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00" b="0" i="0" dirty="0">
                <a:solidFill>
                  <a:srgbClr val="DCEAF8"/>
                </a:solidFill>
                <a:latin typeface="Arial"/>
                <a:ea typeface="Arial"/>
              </a:rPr>
              <a:t>Supplier Search, Bargaining, and Welfare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3840600"/>
            <a:ext cx="744594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  <a:ea typeface="Arial"/>
              </a:rPr>
              <a:t>Gene M. Grossman</a:t>
            </a:r>
            <a:r>
              <a:rPr lang="en-US" sz="2000" b="1" i="0" dirty="0">
                <a:solidFill>
                  <a:srgbClr val="FFFFFF"/>
                </a:solidFill>
                <a:latin typeface="Arial"/>
                <a:ea typeface="Arial"/>
              </a:rPr>
              <a:t> ,</a:t>
            </a:r>
            <a:r>
              <a:rPr sz="2000" b="1" i="0" dirty="0">
                <a:solidFill>
                  <a:srgbClr val="FFFFFF"/>
                </a:solidFill>
                <a:latin typeface="Arial"/>
                <a:ea typeface="Arial"/>
              </a:rPr>
              <a:t>  Elhanan </a:t>
            </a:r>
            <a:r>
              <a:rPr sz="2000" b="1" i="0" dirty="0" err="1">
                <a:solidFill>
                  <a:srgbClr val="FFFFFF"/>
                </a:solidFill>
                <a:latin typeface="Arial"/>
                <a:ea typeface="Arial"/>
              </a:rPr>
              <a:t>Helpman</a:t>
            </a:r>
            <a:r>
              <a:rPr lang="en-US" sz="2000" b="1" i="0" dirty="0">
                <a:solidFill>
                  <a:srgbClr val="FFFFFF"/>
                </a:solidFill>
                <a:latin typeface="Arial"/>
                <a:ea typeface="Arial"/>
              </a:rPr>
              <a:t> ,</a:t>
            </a:r>
            <a:r>
              <a:rPr sz="2000" b="1" i="0" dirty="0">
                <a:solidFill>
                  <a:srgbClr val="FFFFFF"/>
                </a:solidFill>
                <a:latin typeface="Arial"/>
                <a:ea typeface="Arial"/>
              </a:rPr>
              <a:t>  Stephen J. Redding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4224528"/>
            <a:ext cx="552292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C7D7E8"/>
                </a:solidFill>
                <a:latin typeface="Arial"/>
                <a:ea typeface="Arial"/>
              </a:rPr>
              <a:t>American Economic Review, 114(4), 988–1029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5355718"/>
            <a:ext cx="2551981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zh-CN" altLang="en-US" sz="1600" b="0" i="0" dirty="0">
                <a:solidFill>
                  <a:srgbClr val="BFD7F0"/>
                </a:solidFill>
                <a:latin typeface="Arial"/>
                <a:ea typeface="Arial"/>
              </a:rPr>
              <a:t>汇报人：雷镓恺</a:t>
            </a:r>
            <a:endParaRPr lang="en-US" altLang="zh-CN" sz="1600" b="0" i="0" dirty="0">
              <a:solidFill>
                <a:srgbClr val="BFD7F0"/>
              </a:solidFill>
              <a:latin typeface="Arial"/>
              <a:ea typeface="Arial"/>
            </a:endParaRPr>
          </a:p>
          <a:p>
            <a:pPr algn="l"/>
            <a:r>
              <a:rPr lang="zh-CN" altLang="en-US" sz="1600" dirty="0">
                <a:solidFill>
                  <a:srgbClr val="BFD7F0"/>
                </a:solidFill>
                <a:latin typeface="Arial"/>
                <a:ea typeface="Arial"/>
              </a:rPr>
              <a:t>汇报时间：</a:t>
            </a:r>
            <a:r>
              <a:rPr lang="en-US" altLang="zh-CN" sz="1600" dirty="0">
                <a:solidFill>
                  <a:srgbClr val="BFD7F0"/>
                </a:solidFill>
                <a:latin typeface="Arial"/>
                <a:ea typeface="Arial"/>
              </a:rPr>
              <a:t>2026</a:t>
            </a:r>
            <a:r>
              <a:rPr lang="zh-CN" altLang="en-US" sz="1600" dirty="0">
                <a:solidFill>
                  <a:srgbClr val="BFD7F0"/>
                </a:solidFill>
                <a:latin typeface="Arial"/>
                <a:ea typeface="Arial"/>
              </a:rPr>
              <a:t>年</a:t>
            </a:r>
            <a:r>
              <a:rPr lang="en-US" altLang="zh-CN" sz="1600" dirty="0">
                <a:solidFill>
                  <a:srgbClr val="BFD7F0"/>
                </a:solidFill>
                <a:latin typeface="Arial"/>
                <a:ea typeface="Arial"/>
              </a:rPr>
              <a:t>10</a:t>
            </a:r>
            <a:r>
              <a:rPr lang="zh-CN" altLang="en-US" sz="1600" dirty="0">
                <a:solidFill>
                  <a:srgbClr val="BFD7F0"/>
                </a:solidFill>
                <a:latin typeface="Arial"/>
                <a:ea typeface="Arial"/>
              </a:rPr>
              <a:t>月</a:t>
            </a:r>
            <a:r>
              <a:rPr lang="en-US" altLang="zh-CN" sz="1600">
                <a:solidFill>
                  <a:srgbClr val="BFD7F0"/>
                </a:solidFill>
                <a:latin typeface="Arial"/>
                <a:ea typeface="Arial"/>
              </a:rPr>
              <a:t>13</a:t>
            </a:r>
            <a:r>
              <a:rPr lang="zh-CN" altLang="en-US" sz="1600">
                <a:solidFill>
                  <a:srgbClr val="BFD7F0"/>
                </a:solidFill>
                <a:latin typeface="Arial"/>
                <a:ea typeface="Arial"/>
              </a:rPr>
              <a:t>日</a:t>
            </a:r>
            <a:endParaRPr sz="1600" b="0" i="0" dirty="0">
              <a:solidFill>
                <a:srgbClr val="BFD7F0"/>
              </a:solidFill>
              <a:latin typeface="Arial"/>
              <a:ea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253728" y="1234440"/>
            <a:ext cx="1417320" cy="749808"/>
          </a:xfrm>
          <a:prstGeom prst="roundRect">
            <a:avLst>
              <a:gd name="adj" fmla="val 12000"/>
            </a:avLst>
          </a:prstGeom>
          <a:solidFill>
            <a:srgbClr val="214B78"/>
          </a:solidFill>
          <a:ln w="12700">
            <a:solidFill>
              <a:srgbClr val="5D8CC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52019" y="1513665"/>
            <a:ext cx="820738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rial"/>
                <a:ea typeface="Arial"/>
              </a:rPr>
              <a:t>Supplier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95560" y="2423160"/>
            <a:ext cx="1417320" cy="749808"/>
          </a:xfrm>
          <a:prstGeom prst="roundRect">
            <a:avLst>
              <a:gd name="adj" fmla="val 12000"/>
            </a:avLst>
          </a:prstGeom>
          <a:solidFill>
            <a:srgbClr val="214B78"/>
          </a:solidFill>
          <a:ln w="12700">
            <a:solidFill>
              <a:srgbClr val="5D8CC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54202" y="2702385"/>
            <a:ext cx="130003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rial"/>
                <a:ea typeface="Arial"/>
              </a:rPr>
              <a:t>Manufacturer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3657600"/>
            <a:ext cx="1325880" cy="749808"/>
          </a:xfrm>
          <a:prstGeom prst="roundRect">
            <a:avLst>
              <a:gd name="adj" fmla="val 12000"/>
            </a:avLst>
          </a:prstGeom>
          <a:solidFill>
            <a:srgbClr val="214B78"/>
          </a:solidFill>
          <a:ln w="12700">
            <a:solidFill>
              <a:srgbClr val="5D8CC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33403" y="3936825"/>
            <a:ext cx="615554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rial"/>
                <a:ea typeface="Arial"/>
              </a:rPr>
              <a:t>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5560" y="4709160"/>
            <a:ext cx="1417320" cy="749808"/>
          </a:xfrm>
          <a:prstGeom prst="roundRect">
            <a:avLst>
              <a:gd name="adj" fmla="val 12000"/>
            </a:avLst>
          </a:prstGeom>
          <a:solidFill>
            <a:srgbClr val="214B78"/>
          </a:solidFill>
          <a:ln w="12700">
            <a:solidFill>
              <a:srgbClr val="5D8CC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40764" y="4988385"/>
            <a:ext cx="1126912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rial"/>
                <a:ea typeface="Arial"/>
              </a:rPr>
              <a:t>Consumers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20" y="1984248"/>
            <a:ext cx="502920" cy="438912"/>
          </a:xfrm>
          <a:prstGeom prst="line">
            <a:avLst/>
          </a:prstGeom>
          <a:ln w="17780">
            <a:solidFill>
              <a:srgbClr val="80A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555480" y="3172968"/>
            <a:ext cx="960120" cy="484632"/>
          </a:xfrm>
          <a:prstGeom prst="line">
            <a:avLst/>
          </a:prstGeom>
          <a:ln w="17780">
            <a:solidFill>
              <a:srgbClr val="80A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66960" y="4407408"/>
            <a:ext cx="502920" cy="301752"/>
          </a:xfrm>
          <a:prstGeom prst="line">
            <a:avLst/>
          </a:prstGeom>
          <a:ln w="17780">
            <a:solidFill>
              <a:srgbClr val="80A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0377"/>
            <a:ext cx="1559722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2800" b="1" i="0" dirty="0">
                <a:solidFill>
                  <a:srgbClr val="153A63"/>
                </a:solidFill>
                <a:latin typeface="Arial"/>
                <a:ea typeface="Arial"/>
              </a:rPr>
              <a:t>Contents</a:t>
            </a:r>
            <a:endParaRPr sz="2800" b="1" i="0" dirty="0">
              <a:solidFill>
                <a:srgbClr val="153A63"/>
              </a:solidFill>
              <a:latin typeface="Arial"/>
              <a:ea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27632"/>
            <a:ext cx="10698480" cy="658368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762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764792"/>
            <a:ext cx="365760" cy="36576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1001755" y="1824562"/>
            <a:ext cx="22762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9915" y="1793783"/>
            <a:ext cx="381675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53A63"/>
                </a:solidFill>
                <a:latin typeface="Arial"/>
                <a:ea typeface="Arial"/>
              </a:rPr>
              <a:t>Motivation &amp; research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8500" y="1837629"/>
            <a:ext cx="5017399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5F6F80"/>
                </a:solidFill>
                <a:latin typeface="Arial"/>
                <a:ea typeface="Arial"/>
              </a:rPr>
              <a:t>What is new beyond the decline in imports from China?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78024"/>
            <a:ext cx="106984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2688" y="2615184"/>
            <a:ext cx="365760" cy="36576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1001755" y="2674954"/>
            <a:ext cx="22762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4227" y="2659089"/>
            <a:ext cx="336149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53A63"/>
                </a:solidFill>
                <a:latin typeface="Arial"/>
                <a:ea typeface="Arial"/>
              </a:rPr>
              <a:t>Model: search &amp; bargaining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9013" y="2689336"/>
            <a:ext cx="4344138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5F6F80"/>
                </a:solidFill>
                <a:latin typeface="Arial"/>
                <a:ea typeface="Arial"/>
              </a:rPr>
              <a:t>Why supplier relationships are costly to replace.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28416"/>
            <a:ext cx="10698480" cy="658368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762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465576"/>
            <a:ext cx="365760" cy="36576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TextBox 20"/>
          <p:cNvSpPr txBox="1"/>
          <p:nvPr/>
        </p:nvSpPr>
        <p:spPr>
          <a:xfrm>
            <a:off x="1001755" y="3525346"/>
            <a:ext cx="22762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9915" y="3506968"/>
            <a:ext cx="434112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53A63"/>
                </a:solidFill>
                <a:latin typeface="Arial"/>
                <a:ea typeface="Arial"/>
              </a:rPr>
              <a:t>Tariff shocks &amp; sourcing responses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500" y="3534489"/>
            <a:ext cx="501688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5F6F80"/>
                </a:solidFill>
                <a:latin typeface="Arial"/>
                <a:ea typeface="Arial"/>
              </a:rPr>
              <a:t>Small versus large tariffs; thresholds for reorganization.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78808"/>
            <a:ext cx="106984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32688" y="4315968"/>
            <a:ext cx="365760" cy="36576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6" name="TextBox 25"/>
          <p:cNvSpPr txBox="1"/>
          <p:nvPr/>
        </p:nvSpPr>
        <p:spPr>
          <a:xfrm>
            <a:off x="1001755" y="4375738"/>
            <a:ext cx="22762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9915" y="4340555"/>
            <a:ext cx="406701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53A63"/>
                </a:solidFill>
                <a:latin typeface="Arial"/>
                <a:ea typeface="Arial"/>
              </a:rPr>
              <a:t>Welfare, calibration &amp; robustness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9013" y="4384881"/>
            <a:ext cx="3933769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5F6F80"/>
                </a:solidFill>
                <a:latin typeface="Arial"/>
                <a:ea typeface="Arial"/>
              </a:rPr>
              <a:t>How the model is disciplined by trade facts.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29200"/>
            <a:ext cx="10698480" cy="658368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762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32688" y="5166360"/>
            <a:ext cx="365760" cy="36576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1" name="TextBox 30"/>
          <p:cNvSpPr txBox="1"/>
          <p:nvPr/>
        </p:nvSpPr>
        <p:spPr>
          <a:xfrm>
            <a:off x="1001755" y="5226130"/>
            <a:ext cx="22762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9915" y="5198848"/>
            <a:ext cx="471443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53A63"/>
                </a:solidFill>
                <a:latin typeface="Arial"/>
                <a:ea typeface="Arial"/>
              </a:rPr>
              <a:t>Critical assessment &amp; China extension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8500" y="5235273"/>
            <a:ext cx="4666214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5F6F80"/>
                </a:solidFill>
                <a:latin typeface="Arial"/>
                <a:ea typeface="Arial"/>
              </a:rPr>
              <a:t>What the paper shows—and what it does not show.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621965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53A63"/>
                </a:solidFill>
                <a:latin typeface="Arial"/>
                <a:ea typeface="Arial"/>
              </a:rPr>
              <a:t>The core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4229"/>
            <a:ext cx="992169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Tariffs change more than import prices: they may disrupt existing firm-to-firm supply relationships.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59"/>
            <a:ext cx="3520440" cy="1865377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737359"/>
            <a:ext cx="50292" cy="1865377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901952"/>
            <a:ext cx="206466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Research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34928"/>
            <a:ext cx="3136392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How do existing supplier relationships adjust after an unexpected input tariff?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37359"/>
            <a:ext cx="3520440" cy="1865377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737359"/>
            <a:ext cx="50292" cy="1865377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901952"/>
            <a:ext cx="12567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Mechanism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334928"/>
            <a:ext cx="3182112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How do search, match quality, and bargaining determine whether a firm retains or replaces a supplier?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737359"/>
            <a:ext cx="3520440" cy="1865377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01000" y="1737359"/>
            <a:ext cx="50292" cy="1865377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02168" y="1901952"/>
            <a:ext cx="276998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Economic consequences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334928"/>
            <a:ext cx="3136392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How do reorganization costs affect input costs, terms of trade, and welfare?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929796"/>
            <a:ext cx="2148840" cy="1271983"/>
          </a:xfrm>
          <a:prstGeom prst="roundRect">
            <a:avLst>
              <a:gd name="adj" fmla="val 12000"/>
            </a:avLst>
          </a:prstGeom>
          <a:solidFill>
            <a:srgbClr val="EDF4FB"/>
          </a:solidFill>
          <a:ln w="1270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1142186" y="4103533"/>
            <a:ext cx="129093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Tariff shock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611911"/>
            <a:ext cx="18338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Relative costs change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92352" y="4405285"/>
            <a:ext cx="640081" cy="0"/>
          </a:xfrm>
          <a:prstGeom prst="line">
            <a:avLst/>
          </a:prstGeom>
          <a:ln w="22860">
            <a:solidFill>
              <a:srgbClr val="2F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584448" y="3929796"/>
            <a:ext cx="2148840" cy="1271983"/>
          </a:xfrm>
          <a:prstGeom prst="roundRect">
            <a:avLst>
              <a:gd name="adj" fmla="val 12000"/>
            </a:avLst>
          </a:prstGeom>
          <a:solidFill>
            <a:srgbClr val="EDF4FB"/>
          </a:solidFill>
          <a:ln w="1270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3793245" y="4103533"/>
            <a:ext cx="173124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Supplier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611912"/>
            <a:ext cx="200426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Outside options change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72711" y="4405285"/>
            <a:ext cx="640081" cy="0"/>
          </a:xfrm>
          <a:prstGeom prst="line">
            <a:avLst/>
          </a:prstGeom>
          <a:ln w="22860">
            <a:solidFill>
              <a:srgbClr val="2F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55664" y="3929796"/>
            <a:ext cx="2148840" cy="1271983"/>
          </a:xfrm>
          <a:prstGeom prst="roundRect">
            <a:avLst>
              <a:gd name="adj" fmla="val 12000"/>
            </a:avLst>
          </a:prstGeom>
          <a:solidFill>
            <a:srgbClr val="EDF4FB"/>
          </a:solidFill>
          <a:ln w="1270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6664462" y="3972898"/>
            <a:ext cx="173124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Renegotiation / </a:t>
            </a:r>
            <a:endParaRPr lang="en-US" b="1" i="0" dirty="0">
              <a:solidFill>
                <a:srgbClr val="153A63"/>
              </a:solidFill>
              <a:latin typeface="Arial"/>
              <a:ea typeface="Arial"/>
            </a:endParaRPr>
          </a:p>
          <a:p>
            <a:pPr algn="ctr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replacement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696" y="4611911"/>
            <a:ext cx="191077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Supply links adjust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3928" y="4405285"/>
            <a:ext cx="640080" cy="0"/>
          </a:xfrm>
          <a:prstGeom prst="line">
            <a:avLst/>
          </a:prstGeom>
          <a:ln w="22860">
            <a:solidFill>
              <a:srgbClr val="2F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326880" y="3929796"/>
            <a:ext cx="2148840" cy="1271983"/>
          </a:xfrm>
          <a:prstGeom prst="roundRect">
            <a:avLst>
              <a:gd name="adj" fmla="val 12000"/>
            </a:avLst>
          </a:prstGeom>
          <a:solidFill>
            <a:srgbClr val="DDEAF7"/>
          </a:solidFill>
          <a:ln w="1270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9986602" y="4103533"/>
            <a:ext cx="82939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Welfare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6216" y="4611911"/>
            <a:ext cx="201016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Costs and gains combine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486400"/>
            <a:ext cx="10698480" cy="438912"/>
          </a:xfrm>
          <a:prstGeom prst="roundRect">
            <a:avLst>
              <a:gd name="adj" fmla="val 12000"/>
            </a:avLst>
          </a:prstGeom>
          <a:solidFill>
            <a:srgbClr val="153A6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46103" y="5559552"/>
            <a:ext cx="966931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Arial"/>
                <a:ea typeface="Arial"/>
              </a:rPr>
              <a:t>The paper’s central insight: supply-chain adjustment is neither frictionless nor costless.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724557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53A63"/>
                </a:solidFill>
                <a:latin typeface="Arial"/>
                <a:ea typeface="Arial"/>
              </a:rPr>
              <a:t>Tariffs rose—and sourcing patterns began to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4229"/>
            <a:ext cx="9250674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U.S. import-weighted average tariffs on China, before and after the first Trump tariff waves.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855" y="1818931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53A63"/>
                </a:solidFill>
                <a:latin typeface="Arial"/>
                <a:ea typeface="Arial"/>
              </a:rPr>
              <a:t>U.S. import-weighted average tariff on China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5815" y="4835007"/>
            <a:ext cx="960120" cy="440355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66087" y="4441815"/>
            <a:ext cx="11887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53A63"/>
                </a:solidFill>
                <a:latin typeface="Arial"/>
                <a:ea typeface="Arial"/>
              </a:rPr>
              <a:t>2.7%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4647" y="5385091"/>
            <a:ext cx="13716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F80"/>
                </a:solidFill>
                <a:latin typeface="Arial"/>
                <a:ea typeface="Arial"/>
              </a:rPr>
              <a:t>End-2017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96055" y="2486443"/>
            <a:ext cx="960120" cy="2788920"/>
          </a:xfrm>
          <a:prstGeom prst="rect">
            <a:avLst/>
          </a:prstGeom>
          <a:solidFill>
            <a:srgbClr val="153A6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86327" y="2093251"/>
            <a:ext cx="11887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53A63"/>
                </a:solidFill>
                <a:latin typeface="Arial"/>
                <a:ea typeface="Arial"/>
              </a:rPr>
              <a:t>17.1%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4887" y="5385091"/>
            <a:ext cx="13716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F80"/>
                </a:solidFill>
                <a:latin typeface="Arial"/>
                <a:ea typeface="Arial"/>
              </a:rPr>
              <a:t>End-2019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2015" y="1892083"/>
            <a:ext cx="5715000" cy="1207008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2015" y="1892083"/>
            <a:ext cx="50292" cy="1207008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63183" y="2056675"/>
            <a:ext cx="5376672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53A63"/>
                </a:solidFill>
                <a:latin typeface="Arial"/>
                <a:ea typeface="Arial"/>
              </a:rPr>
              <a:t>Trade-source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3183" y="2513875"/>
            <a:ext cx="5330952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243447"/>
                </a:solidFill>
                <a:latin typeface="Arial"/>
                <a:ea typeface="Arial"/>
              </a:rPr>
              <a:t>After the first tariff wave in July 2018, China’s share of U.S. imports fell while the share of Other Asia increased.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2015" y="3327691"/>
            <a:ext cx="5715000" cy="1207008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2015" y="3327691"/>
            <a:ext cx="50292" cy="1207008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63183" y="3492283"/>
            <a:ext cx="5376672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53A63"/>
                </a:solidFill>
                <a:latin typeface="Arial"/>
                <a:ea typeface="Arial"/>
              </a:rPr>
              <a:t>The central puzzle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63183" y="3949483"/>
            <a:ext cx="5376672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243447"/>
                </a:solidFill>
                <a:latin typeface="Arial"/>
                <a:ea typeface="Arial"/>
              </a:rPr>
              <a:t>Is this merely a change in trade flows, or did firms pay costs to rebuild supplier relationships?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2015" y="4863883"/>
            <a:ext cx="5715000" cy="777240"/>
          </a:xfrm>
          <a:prstGeom prst="roundRect">
            <a:avLst>
              <a:gd name="adj" fmla="val 12000"/>
            </a:avLst>
          </a:prstGeom>
          <a:solidFill>
            <a:srgbClr val="DDEA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59144" y="5001710"/>
            <a:ext cx="5520742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 dirty="0">
                <a:solidFill>
                  <a:srgbClr val="153A63"/>
                </a:solidFill>
                <a:latin typeface="Arial"/>
                <a:ea typeface="Arial"/>
              </a:rPr>
              <a:t>Import-share changes  ≠  supplier-relationship changes  </a:t>
            </a:r>
            <a:endParaRPr lang="en-US" sz="1600" b="1" i="0" dirty="0">
              <a:solidFill>
                <a:srgbClr val="153A63"/>
              </a:solidFill>
              <a:latin typeface="Arial"/>
              <a:ea typeface="Arial"/>
            </a:endParaRPr>
          </a:p>
          <a:p>
            <a:pPr algn="ctr"/>
            <a:r>
              <a:rPr sz="1600" b="1" i="0" dirty="0">
                <a:solidFill>
                  <a:srgbClr val="153A63"/>
                </a:solidFill>
                <a:latin typeface="Arial"/>
                <a:ea typeface="Arial"/>
              </a:rPr>
              <a:t>≠  welfare consequences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7B96E8F2-F138-69BC-F8C0-FB55945AD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06" y="1800643"/>
            <a:ext cx="5232071" cy="3720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1282402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 dirty="0">
                <a:solidFill>
                  <a:srgbClr val="153A63"/>
                </a:solidFill>
                <a:latin typeface="Arial"/>
                <a:ea typeface="Arial"/>
              </a:rPr>
              <a:t>Research question and literature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99264"/>
            <a:ext cx="982320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b="0" i="0" dirty="0">
                <a:solidFill>
                  <a:srgbClr val="5F6F80"/>
                </a:solidFill>
                <a:latin typeface="Arial"/>
                <a:ea typeface="Arial"/>
              </a:rPr>
              <a:t>The paper moves from trade-flow responses to the disruption of firm-to-firm supply relationships.</a:t>
            </a:r>
            <a:endParaRPr b="0" i="0" dirty="0">
              <a:solidFill>
                <a:srgbClr val="5F6F80"/>
              </a:solidFill>
              <a:latin typeface="Arial"/>
              <a:ea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97916"/>
            <a:ext cx="3429000" cy="2954912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797916"/>
            <a:ext cx="50292" cy="2954912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1962508"/>
            <a:ext cx="274320" cy="27432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962508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1962508"/>
            <a:ext cx="27058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153A63"/>
                </a:solidFill>
                <a:latin typeface="Arial"/>
                <a:ea typeface="Arial"/>
              </a:rPr>
              <a:t>E</a:t>
            </a:r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xisting work often 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419708"/>
            <a:ext cx="3044952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0" i="0" dirty="0">
                <a:solidFill>
                  <a:srgbClr val="243447"/>
                </a:solidFill>
                <a:latin typeface="Arial"/>
                <a:ea typeface="Arial"/>
              </a:rPr>
              <a:t>Global supply-chain participation, the geography of international sourcing, productivity and market structure, and persistent firm-to-firm networks.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797916"/>
            <a:ext cx="3429000" cy="2954912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1797916"/>
            <a:ext cx="50292" cy="2954912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0" y="1962508"/>
            <a:ext cx="274320" cy="27432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1962508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962508"/>
            <a:ext cx="153888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b="1" i="0" dirty="0">
                <a:solidFill>
                  <a:srgbClr val="153A63"/>
                </a:solidFill>
                <a:latin typeface="Arial"/>
                <a:ea typeface="Arial"/>
              </a:rPr>
              <a:t>Gap identified</a:t>
            </a:r>
            <a:endParaRPr b="1" i="0" dirty="0">
              <a:solidFill>
                <a:srgbClr val="153A63"/>
              </a:solidFill>
              <a:latin typeface="Arial"/>
              <a:ea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90288" y="2419708"/>
            <a:ext cx="3044952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0" i="0" dirty="0">
                <a:solidFill>
                  <a:srgbClr val="243447"/>
                </a:solidFill>
                <a:latin typeface="Arial"/>
                <a:ea typeface="Arial"/>
              </a:rPr>
              <a:t>“Little attention has been paid to how trade policies might disrupt supply chains and with what implications for consumer prices and welfare.”</a:t>
            </a:r>
            <a:endParaRPr b="0" i="0" dirty="0">
              <a:solidFill>
                <a:srgbClr val="243447"/>
              </a:solidFill>
              <a:latin typeface="Arial"/>
              <a:ea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46720" y="1797916"/>
            <a:ext cx="3429000" cy="2954912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1797916"/>
            <a:ext cx="50292" cy="2954912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29600" y="1962508"/>
            <a:ext cx="274320" cy="27432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1962508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1962508"/>
            <a:ext cx="248786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b="1" i="0" dirty="0">
                <a:solidFill>
                  <a:srgbClr val="153A63"/>
                </a:solidFill>
                <a:latin typeface="Arial"/>
                <a:ea typeface="Arial"/>
              </a:rPr>
              <a:t>This </a:t>
            </a:r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paper </a:t>
            </a:r>
            <a:r>
              <a:rPr lang="en-US" b="1" i="0" dirty="0">
                <a:solidFill>
                  <a:srgbClr val="153A63"/>
                </a:solidFill>
                <a:latin typeface="Arial"/>
                <a:ea typeface="Arial"/>
              </a:rPr>
              <a:t>contributes</a:t>
            </a:r>
            <a:endParaRPr b="1" i="0" dirty="0">
              <a:solidFill>
                <a:srgbClr val="153A63"/>
              </a:solidFill>
              <a:latin typeface="Arial"/>
              <a:ea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47888" y="2419708"/>
            <a:ext cx="3044952" cy="22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0" i="0" dirty="0">
                <a:solidFill>
                  <a:srgbClr val="243447"/>
                </a:solidFill>
                <a:latin typeface="Arial"/>
                <a:ea typeface="Arial"/>
              </a:rPr>
              <a:t>A model of costly supplier search, match-specific productivity, and bilateral bargaining to analyze renegotiation, supplier replacement, consumer prices, and aggregate welfare.</a:t>
            </a:r>
            <a:endParaRPr b="0" i="0" dirty="0">
              <a:solidFill>
                <a:srgbClr val="243447"/>
              </a:solidFill>
              <a:latin typeface="Arial"/>
              <a:ea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4382" y="5394960"/>
            <a:ext cx="1064419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rgbClr val="5F6F80"/>
                </a:solidFill>
                <a:latin typeface="Arial"/>
                <a:ea typeface="Arial"/>
              </a:rPr>
              <a:t>Contribution: explain why firms retain, renegotiate, or replace existing suppliers when input tariffs arrive unexpectedly.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416781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 dirty="0">
                <a:solidFill>
                  <a:srgbClr val="153A63"/>
                </a:solidFill>
                <a:latin typeface="Arial"/>
                <a:ea typeface="Arial"/>
              </a:rPr>
              <a:t>Model environment: why do downstream firms rely on foreign inputs?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4229"/>
            <a:ext cx="1041310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Section I builds a standard monopolistic-competition trade model with firm-to-firm supply relationships.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0" y="1554797"/>
            <a:ext cx="4680000" cy="126611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554797"/>
            <a:ext cx="50292" cy="126611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719389"/>
            <a:ext cx="443661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Sector 1</a:t>
            </a:r>
            <a:r>
              <a:rPr lang="en-US" b="1" i="0" dirty="0">
                <a:solidFill>
                  <a:srgbClr val="153A63"/>
                </a:solidFill>
                <a:latin typeface="Arial"/>
                <a:ea typeface="Arial"/>
              </a:rPr>
              <a:t>: </a:t>
            </a:r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Homogeneous good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99" y="2176589"/>
            <a:ext cx="421383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Produced with labor alone; its price is the numeraire, normalizing the home wage to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554797"/>
            <a:ext cx="4680000" cy="126611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46520" y="1554797"/>
            <a:ext cx="50292" cy="126611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7688" y="1719389"/>
            <a:ext cx="520380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Sector 2</a:t>
            </a:r>
            <a:r>
              <a:rPr lang="en-US" b="1" i="0" dirty="0">
                <a:solidFill>
                  <a:srgbClr val="153A63"/>
                </a:solidFill>
                <a:latin typeface="Arial"/>
                <a:ea typeface="Arial"/>
              </a:rPr>
              <a:t>: </a:t>
            </a:r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Differentiated final goods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176589"/>
            <a:ext cx="416966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43447"/>
                </a:solidFill>
                <a:latin typeface="Arial"/>
                <a:ea typeface="Arial"/>
              </a:rPr>
              <a:t>Firms use labor and a composite intermediate input and set prices with a markup.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9760" y="2955824"/>
            <a:ext cx="5754477" cy="1208376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0930" y="3094427"/>
            <a:ext cx="534556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Intermediate inputs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0930" y="3532967"/>
            <a:ext cx="526718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A bundle of differentiated inputs; firms may produce inputs in-house or outsource.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58788"/>
            <a:ext cx="106070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53A63"/>
                </a:solidFill>
                <a:latin typeface="Arial"/>
                <a:ea typeface="Arial"/>
              </a:rPr>
              <a:t>How a supply chain forms</a:t>
            </a:r>
          </a:p>
        </p:txBody>
      </p:sp>
      <p:sp>
        <p:nvSpPr>
          <p:cNvPr id="22" name="Oval 21"/>
          <p:cNvSpPr/>
          <p:nvPr/>
        </p:nvSpPr>
        <p:spPr>
          <a:xfrm>
            <a:off x="1481328" y="4807428"/>
            <a:ext cx="429768" cy="429768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81328" y="4807428"/>
            <a:ext cx="429768" cy="4297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8692" y="5356068"/>
            <a:ext cx="5241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43447"/>
                </a:solidFill>
                <a:latin typeface="Arial"/>
                <a:ea typeface="Arial"/>
              </a:rPr>
              <a:t>Enter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75104" y="5026884"/>
            <a:ext cx="996696" cy="0"/>
          </a:xfrm>
          <a:prstGeom prst="line">
            <a:avLst/>
          </a:prstGeom>
          <a:ln w="20320">
            <a:solidFill>
              <a:srgbClr val="2F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749039" y="4807428"/>
            <a:ext cx="429768" cy="429768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49039" y="4807428"/>
            <a:ext cx="429768" cy="4297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7834" y="5356068"/>
            <a:ext cx="156132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43447"/>
                </a:solidFill>
                <a:latin typeface="Arial"/>
                <a:ea typeface="Arial"/>
              </a:rPr>
              <a:t>Pay search cost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42816" y="5026884"/>
            <a:ext cx="996696" cy="0"/>
          </a:xfrm>
          <a:prstGeom prst="line">
            <a:avLst/>
          </a:prstGeom>
          <a:ln w="20320">
            <a:solidFill>
              <a:srgbClr val="2F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016752" y="4807428"/>
            <a:ext cx="429768" cy="429768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6752" y="4807428"/>
            <a:ext cx="429768" cy="4297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4944" y="5356068"/>
            <a:ext cx="220252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43447"/>
                </a:solidFill>
                <a:latin typeface="Arial"/>
                <a:ea typeface="Arial"/>
              </a:rPr>
              <a:t>Observe match quality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10528" y="5026884"/>
            <a:ext cx="996696" cy="0"/>
          </a:xfrm>
          <a:prstGeom prst="line">
            <a:avLst/>
          </a:prstGeom>
          <a:ln w="20320">
            <a:solidFill>
              <a:srgbClr val="2F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284464" y="4807428"/>
            <a:ext cx="429768" cy="429768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84464" y="4807428"/>
            <a:ext cx="429768" cy="4297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5406" y="5356068"/>
            <a:ext cx="225702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43447"/>
                </a:solidFill>
                <a:latin typeface="Arial"/>
                <a:ea typeface="Arial"/>
              </a:rPr>
              <a:t>Accept or search again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78240" y="5026884"/>
            <a:ext cx="996696" cy="0"/>
          </a:xfrm>
          <a:prstGeom prst="line">
            <a:avLst/>
          </a:prstGeom>
          <a:ln w="20320">
            <a:solidFill>
              <a:srgbClr val="2F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552176" y="4807428"/>
            <a:ext cx="429768" cy="429768"/>
          </a:xfrm>
          <a:prstGeom prst="ellipse">
            <a:avLst/>
          </a:prstGeom>
          <a:solidFill>
            <a:srgbClr val="153A6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52176" y="4807428"/>
            <a:ext cx="429768" cy="4297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1164" y="5356068"/>
            <a:ext cx="178093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43447"/>
                </a:solidFill>
                <a:latin typeface="Arial"/>
                <a:ea typeface="Arial"/>
              </a:rPr>
              <a:t>Bargain bilaterally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5847178"/>
            <a:ext cx="10698480" cy="438912"/>
          </a:xfrm>
          <a:prstGeom prst="roundRect">
            <a:avLst>
              <a:gd name="adj" fmla="val 12000"/>
            </a:avLst>
          </a:prstGeom>
          <a:solidFill>
            <a:srgbClr val="ED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3382" y="5920330"/>
            <a:ext cx="1053705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Key assumption: supply chains form in anticipation of free trade; the tariff arrives unexpectedly.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487313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53A63"/>
                </a:solidFill>
                <a:latin typeface="Arial"/>
                <a:ea typeface="Arial"/>
              </a:rPr>
              <a:t>Supplier search: firms do not work with every potential supplier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4229"/>
            <a:ext cx="6181244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A match is accepted only if it passes a reservation threshold.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7781" y="4021765"/>
            <a:ext cx="5074920" cy="1261872"/>
          </a:xfrm>
          <a:prstGeom prst="roundRect">
            <a:avLst>
              <a:gd name="adj" fmla="val 12000"/>
            </a:avLst>
          </a:prstGeom>
          <a:solidFill>
            <a:srgbClr val="EDF4FB"/>
          </a:solidFill>
          <a:ln w="1270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2101" y="4511301"/>
            <a:ext cx="260007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53A63"/>
                </a:solidFill>
                <a:latin typeface="Arial"/>
                <a:ea typeface="Arial"/>
              </a:rPr>
              <a:t>Expected total search cost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3987762"/>
            <a:ext cx="91440" cy="9144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419088" y="3960087"/>
                <a:ext cx="2455800" cy="2769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𝑭</m:t>
                    </m:r>
                    <m:r>
                      <a:rPr lang="en-US" altLang="zh-CN" b="1" i="1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 </m:t>
                    </m:r>
                  </m:oMath>
                </a14:m>
                <a:r>
                  <a:rPr b="0" i="0" dirty="0">
                    <a:solidFill>
                      <a:srgbClr val="243447"/>
                    </a:solidFill>
                    <a:latin typeface="Arial"/>
                    <a:ea typeface="Arial"/>
                  </a:rPr>
                  <a:t>: fixed cost per search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088" y="3960087"/>
                <a:ext cx="2455800" cy="276999"/>
              </a:xfrm>
              <a:prstGeom prst="rect">
                <a:avLst/>
              </a:prstGeom>
              <a:blipFill>
                <a:blip r:embed="rId2"/>
                <a:stretch>
                  <a:fillRect l="-3226" t="-28889" r="-4715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6419088" y="4280127"/>
            <a:ext cx="271709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5F6F80"/>
                </a:solidFill>
                <a:latin typeface="Arial"/>
                <a:ea typeface="Arial"/>
              </a:rPr>
              <a:t>Each attempt uses resources.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4727943"/>
            <a:ext cx="91440" cy="9144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419088" y="4627599"/>
                <a:ext cx="4170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𝑮</m:t>
                    </m:r>
                    <m:d>
                      <m:dPr>
                        <m:ctrlPr>
                          <a:rPr lang="zh-CN" altLang="en-US" b="1" i="1">
                            <a:solidFill>
                              <a:srgbClr val="17365D"/>
                            </a:solidFill>
                            <a:latin typeface="Cambria Math" panose="02040503050406030204" pitchFamily="18" charset="0"/>
                            <a:ea typeface="Microsoft YaHei"/>
                            <a:cs typeface="Arial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zh-CN" altLang="en-US" b="1" i="1">
                                <a:solidFill>
                                  <a:srgbClr val="17365D"/>
                                </a:solidFill>
                                <a:latin typeface="Cambria Math" panose="02040503050406030204" pitchFamily="18" charset="0"/>
                                <a:ea typeface="Microsoft YaHei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zh-CN" altLang="en-US" b="1" i="1">
                                <a:solidFill>
                                  <a:srgbClr val="17365D"/>
                                </a:solidFill>
                                <a:latin typeface="Cambria Math" panose="02040503050406030204" pitchFamily="18" charset="0"/>
                                <a:ea typeface="Microsoft YaHei"/>
                                <a:cs typeface="Arial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zh-CN" altLang="en-US" b="1" i="1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Microsoft YaHei"/>
                        <a:cs typeface="Arial"/>
                      </a:rPr>
                      <m:t> </m:t>
                    </m:r>
                  </m:oMath>
                </a14:m>
                <a:r>
                  <a:rPr b="0" i="0" dirty="0">
                    <a:solidFill>
                      <a:srgbClr val="243447"/>
                    </a:solidFill>
                    <a:latin typeface="Arial"/>
                    <a:ea typeface="Arial"/>
                  </a:rPr>
                  <a:t>: probability of an acceptable match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088" y="4627599"/>
                <a:ext cx="4170244" cy="276999"/>
              </a:xfrm>
              <a:prstGeom prst="rect">
                <a:avLst/>
              </a:prstGeom>
              <a:blipFill>
                <a:blip r:embed="rId3"/>
                <a:stretch>
                  <a:fillRect l="-1901" t="-28261" r="-2778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6419088" y="4947639"/>
            <a:ext cx="4846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5F6F80"/>
                </a:solidFill>
                <a:latin typeface="Arial"/>
                <a:ea typeface="Arial"/>
              </a:rPr>
              <a:t>A stricter threshold lowers the chance that a search succeeds.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486567"/>
            <a:ext cx="5074920" cy="1084493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1486567"/>
            <a:ext cx="50292" cy="1084493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373368" y="1601713"/>
                <a:ext cx="1552733" cy="2769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153A63"/>
                        </a:solidFill>
                        <a:latin typeface="Cambria Math" panose="02040503050406030204" pitchFamily="18" charset="0"/>
                        <a:ea typeface="Arial"/>
                      </a:rPr>
                      <m:t>𝒂</m:t>
                    </m:r>
                    <m:r>
                      <a:rPr lang="zh-CN" altLang="en-US" b="1" i="1" smtClean="0">
                        <a:solidFill>
                          <a:srgbClr val="153A63"/>
                        </a:solidFill>
                        <a:latin typeface="Cambria Math" panose="02040503050406030204" pitchFamily="18" charset="0"/>
                        <a:ea typeface="Arial"/>
                      </a:rPr>
                      <m:t>≤</m:t>
                    </m:r>
                    <m:acc>
                      <m:accPr>
                        <m:chr m:val="̅"/>
                        <m:ctrlPr>
                          <a:rPr lang="zh-CN" altLang="en-US" b="1" i="1">
                            <a:solidFill>
                              <a:srgbClr val="17365D"/>
                            </a:solidFill>
                            <a:latin typeface="Cambria Math" panose="02040503050406030204" pitchFamily="18" charset="0"/>
                            <a:ea typeface="Microsoft YaHei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b="1" i="1">
                            <a:solidFill>
                              <a:srgbClr val="17365D"/>
                            </a:solidFill>
                            <a:latin typeface="Cambria Math" panose="02040503050406030204" pitchFamily="18" charset="0"/>
                            <a:ea typeface="Microsoft YaHei"/>
                            <a:cs typeface="Arial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i="0" dirty="0">
                    <a:solidFill>
                      <a:srgbClr val="153A63"/>
                    </a:solidFill>
                    <a:latin typeface="Arial"/>
                    <a:ea typeface="Arial"/>
                  </a:rPr>
                  <a:t> : Accept</a:t>
                </a:r>
                <a:endParaRPr b="1" i="0" dirty="0">
                  <a:solidFill>
                    <a:srgbClr val="153A63"/>
                  </a:solidFill>
                  <a:latin typeface="Arial"/>
                  <a:ea typeface="Arial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368" y="1601713"/>
                <a:ext cx="1552733" cy="276999"/>
              </a:xfrm>
              <a:prstGeom prst="rect">
                <a:avLst/>
              </a:prstGeom>
              <a:blipFill>
                <a:blip r:embed="rId4"/>
                <a:stretch>
                  <a:fillRect l="-3937" t="-28889" r="-8661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6373368" y="1986243"/>
            <a:ext cx="4727357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The match is good enough; the firm proceeds to bargaining.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709760"/>
            <a:ext cx="5074920" cy="1084493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2709760"/>
            <a:ext cx="50292" cy="1084493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373368" y="2824906"/>
                <a:ext cx="1484381" cy="2769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rgbClr val="153A63"/>
                        </a:solidFill>
                        <a:latin typeface="Cambria Math" panose="02040503050406030204" pitchFamily="18" charset="0"/>
                        <a:ea typeface="Arial"/>
                      </a:rPr>
                      <m:t>𝒂</m:t>
                    </m:r>
                    <m:r>
                      <a:rPr lang="en-US" altLang="zh-CN" b="1" i="1" smtClean="0">
                        <a:solidFill>
                          <a:srgbClr val="153A6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acc>
                      <m:accPr>
                        <m:chr m:val="̅"/>
                        <m:ctrlPr>
                          <a:rPr lang="zh-CN" altLang="en-US" b="1" i="1">
                            <a:solidFill>
                              <a:srgbClr val="17365D"/>
                            </a:solidFill>
                            <a:latin typeface="Cambria Math" panose="02040503050406030204" pitchFamily="18" charset="0"/>
                            <a:ea typeface="Microsoft YaHei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b="1" i="1">
                            <a:solidFill>
                              <a:srgbClr val="17365D"/>
                            </a:solidFill>
                            <a:latin typeface="Cambria Math" panose="02040503050406030204" pitchFamily="18" charset="0"/>
                            <a:ea typeface="Microsoft YaHei"/>
                            <a:cs typeface="Arial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b="1" dirty="0">
                    <a:solidFill>
                      <a:srgbClr val="153A63"/>
                    </a:solidFill>
                    <a:latin typeface="Arial"/>
                    <a:ea typeface="Arial"/>
                  </a:rPr>
                  <a:t> : </a:t>
                </a:r>
                <a:r>
                  <a:rPr b="1" i="0" dirty="0">
                    <a:solidFill>
                      <a:srgbClr val="153A63"/>
                    </a:solidFill>
                    <a:latin typeface="Arial"/>
                    <a:ea typeface="Arial"/>
                  </a:rPr>
                  <a:t>Reject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368" y="2824906"/>
                <a:ext cx="1484381" cy="276999"/>
              </a:xfrm>
              <a:prstGeom prst="rect">
                <a:avLst/>
              </a:prstGeom>
              <a:blipFill>
                <a:blip r:embed="rId5"/>
                <a:stretch>
                  <a:fillRect l="-4115" t="-28261" r="-9053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6373368" y="3209436"/>
            <a:ext cx="4764023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The match is too costly; the firm searches again and incurs additional costs.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600978"/>
            <a:ext cx="10515600" cy="502920"/>
          </a:xfrm>
          <a:prstGeom prst="roundRect">
            <a:avLst>
              <a:gd name="adj" fmla="val 12000"/>
            </a:avLst>
          </a:prstGeom>
          <a:solidFill>
            <a:srgbClr val="153A6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88134" y="5710466"/>
            <a:ext cx="684809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Arial"/>
                <a:ea typeface="Arial"/>
              </a:rPr>
              <a:t>Trade-off: better supplier matches versus higher search costs.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11">
                <a:extLst>
                  <a:ext uri="{FF2B5EF4-FFF2-40B4-BE49-F238E27FC236}">
                    <a16:creationId xmlns:a16="http://schemas.microsoft.com/office/drawing/2014/main" id="{2C9955DC-7B2F-F81F-F6A6-0E73D212012D}"/>
                  </a:ext>
                </a:extLst>
              </p:cNvPr>
              <p:cNvSpPr txBox="1"/>
              <p:nvPr/>
            </p:nvSpPr>
            <p:spPr>
              <a:xfrm>
                <a:off x="3090672" y="4196800"/>
                <a:ext cx="3017520" cy="81246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2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sz="2300" b="1" i="1" smtClean="0">
                          <a:solidFill>
                            <a:srgbClr val="17365D"/>
                          </a:solidFill>
                          <a:latin typeface="Cambria Math" panose="02040503050406030204" pitchFamily="18" charset="0"/>
                          <a:ea typeface="Microsoft YaHei"/>
                          <a:cs typeface="Arial"/>
                        </a:rPr>
                        <m:t>𝑺</m:t>
                      </m:r>
                      <m:d>
                        <m:dPr>
                          <m:ctrlPr>
                            <a:rPr lang="zh-CN" altLang="en-US" sz="2300" b="1" i="1">
                              <a:solidFill>
                                <a:srgbClr val="17365D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Arial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zh-CN" altLang="en-US" sz="2300" b="1" i="1">
                                  <a:solidFill>
                                    <a:srgbClr val="17365D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zh-CN" altLang="en-US" sz="2300" b="1" i="1">
                                  <a:solidFill>
                                    <a:srgbClr val="17365D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  <m:t>𝒂</m:t>
                              </m:r>
                            </m:e>
                          </m:acc>
                        </m:e>
                      </m:d>
                      <m:r>
                        <a:rPr lang="en-US" altLang="zh-CN" sz="2300" b="1" i="1" smtClean="0">
                          <a:solidFill>
                            <a:srgbClr val="17365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altLang="zh-CN" sz="2300" b="1" i="1" smtClean="0">
                              <a:solidFill>
                                <a:srgbClr val="17365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en-US" altLang="zh-CN" sz="2300" b="1" i="1" smtClean="0">
                              <a:solidFill>
                                <a:srgbClr val="17365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𝑭</m:t>
                          </m:r>
                        </m:num>
                        <m:den>
                          <m:r>
                            <a:rPr lang="en-US" altLang="zh-CN" sz="2300" b="1" i="1" smtClean="0">
                              <a:solidFill>
                                <a:srgbClr val="17365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𝑮</m:t>
                          </m:r>
                          <m:d>
                            <m:dPr>
                              <m:ctrlPr>
                                <a:rPr lang="zh-CN" altLang="en-US" sz="2300" b="1" i="1">
                                  <a:solidFill>
                                    <a:srgbClr val="17365D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en-US" sz="2300" b="1" i="1">
                                      <a:solidFill>
                                        <a:srgbClr val="17365D"/>
                                      </a:solidFill>
                                      <a:latin typeface="Cambria Math" panose="02040503050406030204" pitchFamily="18" charset="0"/>
                                      <a:ea typeface="Microsoft YaHei"/>
                                      <a:cs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300" b="1" i="1">
                                      <a:solidFill>
                                        <a:srgbClr val="17365D"/>
                                      </a:solidFill>
                                      <a:latin typeface="Cambria Math" panose="02040503050406030204" pitchFamily="18" charset="0"/>
                                      <a:ea typeface="Microsoft YaHei"/>
                                      <a:cs typeface="Arial"/>
                                    </a:rPr>
                                    <m:t>𝒂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sz="2300" b="1" i="0" dirty="0">
                  <a:solidFill>
                    <a:srgbClr val="17365D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mc:Choice>
        <mc:Fallback xmlns="">
          <p:sp>
            <p:nvSpPr>
              <p:cNvPr id="32" name="TextBox 11">
                <a:extLst>
                  <a:ext uri="{FF2B5EF4-FFF2-40B4-BE49-F238E27FC236}">
                    <a16:creationId xmlns:a16="http://schemas.microsoft.com/office/drawing/2014/main" id="{2C9955DC-7B2F-F81F-F6A6-0E73D2120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672" y="4196800"/>
                <a:ext cx="3017520" cy="8124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12">
            <a:extLst>
              <a:ext uri="{FF2B5EF4-FFF2-40B4-BE49-F238E27FC236}">
                <a16:creationId xmlns:a16="http://schemas.microsoft.com/office/drawing/2014/main" id="{6B9850D6-F6CA-5BBB-E3DB-E459ABBCA6AB}"/>
              </a:ext>
            </a:extLst>
          </p:cNvPr>
          <p:cNvSpPr/>
          <p:nvPr/>
        </p:nvSpPr>
        <p:spPr>
          <a:xfrm>
            <a:off x="592243" y="1698795"/>
            <a:ext cx="91440" cy="9144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13">
                <a:extLst>
                  <a:ext uri="{FF2B5EF4-FFF2-40B4-BE49-F238E27FC236}">
                    <a16:creationId xmlns:a16="http://schemas.microsoft.com/office/drawing/2014/main" id="{40C67A2E-27B3-A16D-15B8-4ED04CA9E5AC}"/>
                  </a:ext>
                </a:extLst>
              </p:cNvPr>
              <p:cNvSpPr txBox="1"/>
              <p:nvPr/>
            </p:nvSpPr>
            <p:spPr>
              <a:xfrm>
                <a:off x="793411" y="1634787"/>
                <a:ext cx="3002425" cy="2769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𝒂</m:t>
                    </m:r>
                    <m:r>
                      <a:rPr lang="en-US" altLang="zh-CN" b="1" i="1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 </m:t>
                    </m:r>
                  </m:oMath>
                </a14:m>
                <a:r>
                  <a:rPr lang="en-US" b="0" i="0" dirty="0">
                    <a:solidFill>
                      <a:srgbClr val="243447"/>
                    </a:solidFill>
                    <a:latin typeface="Arial"/>
                    <a:ea typeface="Arial"/>
                  </a:rPr>
                  <a:t>: </a:t>
                </a:r>
                <a:r>
                  <a:rPr lang="en-US" dirty="0">
                    <a:solidFill>
                      <a:srgbClr val="243447"/>
                    </a:solidFill>
                    <a:latin typeface="Arial"/>
                    <a:ea typeface="Arial"/>
                  </a:rPr>
                  <a:t>Inverse match productivity</a:t>
                </a:r>
                <a:endParaRPr b="0" i="0" dirty="0">
                  <a:solidFill>
                    <a:srgbClr val="243447"/>
                  </a:solidFill>
                  <a:latin typeface="Arial"/>
                  <a:ea typeface="Arial"/>
                </a:endParaRPr>
              </a:p>
            </p:txBody>
          </p:sp>
        </mc:Choice>
        <mc:Fallback xmlns="">
          <p:sp>
            <p:nvSpPr>
              <p:cNvPr id="35" name="TextBox 13">
                <a:extLst>
                  <a:ext uri="{FF2B5EF4-FFF2-40B4-BE49-F238E27FC236}">
                    <a16:creationId xmlns:a16="http://schemas.microsoft.com/office/drawing/2014/main" id="{40C67A2E-27B3-A16D-15B8-4ED04CA9E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11" y="1634787"/>
                <a:ext cx="3002425" cy="276999"/>
              </a:xfrm>
              <a:prstGeom prst="rect">
                <a:avLst/>
              </a:prstGeom>
              <a:blipFill>
                <a:blip r:embed="rId7"/>
                <a:stretch>
                  <a:fillRect l="-2028" t="-28261" r="-4462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4">
                <a:extLst>
                  <a:ext uri="{FF2B5EF4-FFF2-40B4-BE49-F238E27FC236}">
                    <a16:creationId xmlns:a16="http://schemas.microsoft.com/office/drawing/2014/main" id="{EA182B71-0245-B99B-167F-6313AFF1AA6B}"/>
                  </a:ext>
                </a:extLst>
              </p:cNvPr>
              <p:cNvSpPr txBox="1"/>
              <p:nvPr/>
            </p:nvSpPr>
            <p:spPr>
              <a:xfrm>
                <a:off x="793411" y="1954827"/>
                <a:ext cx="5024628" cy="76309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1600" b="0" i="0" dirty="0">
                    <a:solidFill>
                      <a:srgbClr val="5F6F80"/>
                    </a:solidFill>
                    <a:latin typeface="Arial"/>
                    <a:ea typeface="Arial"/>
                  </a:rPr>
                  <a:t>A lower </a:t>
                </a:r>
                <a14:m>
                  <m:oMath xmlns:m="http://schemas.openxmlformats.org/officeDocument/2006/math">
                    <m:r>
                      <a:rPr lang="zh-CN" altLang="en-US" sz="1600" b="1" i="1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𝒂</m:t>
                    </m:r>
                  </m:oMath>
                </a14:m>
                <a:r>
                  <a:rPr lang="en-US" sz="1600" b="0" i="0" dirty="0">
                    <a:solidFill>
                      <a:srgbClr val="5F6F80"/>
                    </a:solidFill>
                    <a:latin typeface="Arial"/>
                    <a:ea typeface="Arial"/>
                  </a:rPr>
                  <a:t> means a more productive match and a lower unit production cost, </a:t>
                </a:r>
                <a14:m>
                  <m:oMath xmlns:m="http://schemas.openxmlformats.org/officeDocument/2006/math">
                    <m:r>
                      <a:rPr lang="zh-CN" altLang="en-US" sz="1600" b="1" i="1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𝒘</m:t>
                    </m:r>
                  </m:oMath>
                </a14:m>
                <a:r>
                  <a:rPr lang="en-US" sz="1600" b="0" i="0" dirty="0">
                    <a:solidFill>
                      <a:srgbClr val="5F6F80"/>
                    </a:solidFill>
                    <a:latin typeface="Arial"/>
                    <a:ea typeface="Arial"/>
                  </a:rPr>
                  <a:t>; a higher </a:t>
                </a:r>
                <a14:m>
                  <m:oMath xmlns:m="http://schemas.openxmlformats.org/officeDocument/2006/math">
                    <m:r>
                      <a:rPr lang="zh-CN" altLang="en-US" sz="1600" b="1" i="1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𝒂</m:t>
                    </m:r>
                  </m:oMath>
                </a14:m>
                <a:r>
                  <a:rPr lang="en-US" sz="1600" b="0" i="0" dirty="0">
                    <a:solidFill>
                      <a:srgbClr val="5F6F80"/>
                    </a:solidFill>
                    <a:latin typeface="Arial"/>
                    <a:ea typeface="Arial"/>
                  </a:rPr>
                  <a:t> means a less productive and more costly match.</a:t>
                </a:r>
                <a:endParaRPr sz="1600" b="0" i="0" dirty="0">
                  <a:solidFill>
                    <a:srgbClr val="5F6F80"/>
                  </a:solidFill>
                  <a:latin typeface="Arial"/>
                  <a:ea typeface="Arial"/>
                </a:endParaRPr>
              </a:p>
            </p:txBody>
          </p:sp>
        </mc:Choice>
        <mc:Fallback xmlns="">
          <p:sp>
            <p:nvSpPr>
              <p:cNvPr id="37" name="TextBox 14">
                <a:extLst>
                  <a:ext uri="{FF2B5EF4-FFF2-40B4-BE49-F238E27FC236}">
                    <a16:creationId xmlns:a16="http://schemas.microsoft.com/office/drawing/2014/main" id="{EA182B71-0245-B99B-167F-6313AFF1A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11" y="1954827"/>
                <a:ext cx="5024628" cy="763094"/>
              </a:xfrm>
              <a:prstGeom prst="rect">
                <a:avLst/>
              </a:prstGeom>
              <a:blipFill>
                <a:blip r:embed="rId8"/>
                <a:stretch>
                  <a:fillRect l="-2427" t="-8800" r="-1578"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12">
            <a:extLst>
              <a:ext uri="{FF2B5EF4-FFF2-40B4-BE49-F238E27FC236}">
                <a16:creationId xmlns:a16="http://schemas.microsoft.com/office/drawing/2014/main" id="{C92A9385-A02E-56FF-C91E-8F098B14A120}"/>
              </a:ext>
            </a:extLst>
          </p:cNvPr>
          <p:cNvSpPr/>
          <p:nvPr/>
        </p:nvSpPr>
        <p:spPr>
          <a:xfrm>
            <a:off x="592244" y="2852548"/>
            <a:ext cx="91440" cy="9144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13">
                <a:extLst>
                  <a:ext uri="{FF2B5EF4-FFF2-40B4-BE49-F238E27FC236}">
                    <a16:creationId xmlns:a16="http://schemas.microsoft.com/office/drawing/2014/main" id="{1AD5D793-7E0E-A25B-AFBD-5493DDC296A3}"/>
                  </a:ext>
                </a:extLst>
              </p:cNvPr>
              <p:cNvSpPr txBox="1"/>
              <p:nvPr/>
            </p:nvSpPr>
            <p:spPr>
              <a:xfrm>
                <a:off x="793412" y="2788540"/>
                <a:ext cx="2126223" cy="2769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b="1" i="1">
                            <a:solidFill>
                              <a:srgbClr val="17365D"/>
                            </a:solidFill>
                            <a:latin typeface="Cambria Math" panose="02040503050406030204" pitchFamily="18" charset="0"/>
                            <a:ea typeface="Microsoft YaHei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b="1" i="1">
                            <a:solidFill>
                              <a:srgbClr val="17365D"/>
                            </a:solidFill>
                            <a:latin typeface="Cambria Math" panose="02040503050406030204" pitchFamily="18" charset="0"/>
                            <a:ea typeface="Microsoft YaHei"/>
                            <a:cs typeface="Arial"/>
                          </a:rPr>
                          <m:t>𝒂</m:t>
                        </m:r>
                      </m:e>
                    </m:acc>
                  </m:oMath>
                </a14:m>
                <a:r>
                  <a:rPr b="0" i="0" dirty="0">
                    <a:solidFill>
                      <a:srgbClr val="243447"/>
                    </a:solidFill>
                    <a:latin typeface="Arial"/>
                    <a:ea typeface="Arial"/>
                  </a:rPr>
                  <a:t>: </a:t>
                </a:r>
                <a:r>
                  <a:rPr lang="en-US" dirty="0">
                    <a:solidFill>
                      <a:srgbClr val="243447"/>
                    </a:solidFill>
                    <a:latin typeface="Arial"/>
                    <a:ea typeface="Arial"/>
                  </a:rPr>
                  <a:t>Reservation cutoff</a:t>
                </a:r>
                <a:endParaRPr b="0" i="0" dirty="0">
                  <a:solidFill>
                    <a:srgbClr val="243447"/>
                  </a:solidFill>
                  <a:latin typeface="Arial"/>
                  <a:ea typeface="Arial"/>
                </a:endParaRPr>
              </a:p>
            </p:txBody>
          </p:sp>
        </mc:Choice>
        <mc:Fallback xmlns="">
          <p:sp>
            <p:nvSpPr>
              <p:cNvPr id="41" name="TextBox 13">
                <a:extLst>
                  <a:ext uri="{FF2B5EF4-FFF2-40B4-BE49-F238E27FC236}">
                    <a16:creationId xmlns:a16="http://schemas.microsoft.com/office/drawing/2014/main" id="{1AD5D793-7E0E-A25B-AFBD-5493DDC29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12" y="2788540"/>
                <a:ext cx="2126223" cy="276999"/>
              </a:xfrm>
              <a:prstGeom prst="rect">
                <a:avLst/>
              </a:prstGeom>
              <a:blipFill>
                <a:blip r:embed="rId9"/>
                <a:stretch>
                  <a:fillRect l="-2865" t="-28261" r="-6304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14">
                <a:extLst>
                  <a:ext uri="{FF2B5EF4-FFF2-40B4-BE49-F238E27FC236}">
                    <a16:creationId xmlns:a16="http://schemas.microsoft.com/office/drawing/2014/main" id="{2EF1D990-B7DF-18E0-F1B6-28F2BFD15653}"/>
                  </a:ext>
                </a:extLst>
              </p:cNvPr>
              <p:cNvSpPr txBox="1"/>
              <p:nvPr/>
            </p:nvSpPr>
            <p:spPr>
              <a:xfrm>
                <a:off x="793411" y="3108580"/>
                <a:ext cx="503131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1600" b="0" i="0" dirty="0">
                    <a:solidFill>
                      <a:srgbClr val="5F6F80"/>
                    </a:solidFill>
                    <a:latin typeface="Arial"/>
                    <a:ea typeface="Arial"/>
                  </a:rPr>
                  <a:t>The buyer accepts a match if </a:t>
                </a:r>
                <a14:m>
                  <m:oMath xmlns:m="http://schemas.openxmlformats.org/officeDocument/2006/math">
                    <m:r>
                      <a:rPr lang="zh-CN" altLang="en-US" sz="1600" b="1" i="1">
                        <a:solidFill>
                          <a:srgbClr val="153A63"/>
                        </a:solidFill>
                        <a:latin typeface="Cambria Math" panose="02040503050406030204" pitchFamily="18" charset="0"/>
                        <a:ea typeface="Arial"/>
                      </a:rPr>
                      <m:t>𝒂</m:t>
                    </m:r>
                    <m:r>
                      <a:rPr lang="zh-CN" altLang="en-US" sz="1600" b="1" i="1">
                        <a:solidFill>
                          <a:srgbClr val="153A63"/>
                        </a:solidFill>
                        <a:latin typeface="Cambria Math" panose="02040503050406030204" pitchFamily="18" charset="0"/>
                        <a:ea typeface="Arial"/>
                      </a:rPr>
                      <m:t>≤</m:t>
                    </m:r>
                    <m:acc>
                      <m:accPr>
                        <m:chr m:val="̅"/>
                        <m:ctrlPr>
                          <a:rPr lang="zh-CN" altLang="en-US" sz="1600" b="1" i="1">
                            <a:solidFill>
                              <a:srgbClr val="17365D"/>
                            </a:solidFill>
                            <a:latin typeface="Cambria Math" panose="02040503050406030204" pitchFamily="18" charset="0"/>
                            <a:ea typeface="Microsoft YaHei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600" b="1" i="1">
                            <a:solidFill>
                              <a:srgbClr val="17365D"/>
                            </a:solidFill>
                            <a:latin typeface="Cambria Math" panose="02040503050406030204" pitchFamily="18" charset="0"/>
                            <a:ea typeface="Microsoft YaHei"/>
                            <a:cs typeface="Arial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1600" b="0" i="0" dirty="0">
                    <a:solidFill>
                      <a:srgbClr val="5F6F80"/>
                    </a:solidFill>
                    <a:latin typeface="Arial"/>
                    <a:ea typeface="Arial"/>
                  </a:rPr>
                  <a:t>; otherwise, it rejects the match and searches again.</a:t>
                </a:r>
                <a:endParaRPr sz="1600" b="0" i="0" dirty="0">
                  <a:solidFill>
                    <a:srgbClr val="5F6F80"/>
                  </a:solidFill>
                  <a:latin typeface="Arial"/>
                  <a:ea typeface="Arial"/>
                </a:endParaRPr>
              </a:p>
            </p:txBody>
          </p:sp>
        </mc:Choice>
        <mc:Fallback xmlns="">
          <p:sp>
            <p:nvSpPr>
              <p:cNvPr id="43" name="TextBox 14">
                <a:extLst>
                  <a:ext uri="{FF2B5EF4-FFF2-40B4-BE49-F238E27FC236}">
                    <a16:creationId xmlns:a16="http://schemas.microsoft.com/office/drawing/2014/main" id="{2EF1D990-B7DF-18E0-F1B6-28F2BFD15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11" y="3108580"/>
                <a:ext cx="5031317" cy="492443"/>
              </a:xfrm>
              <a:prstGeom prst="rect">
                <a:avLst/>
              </a:prstGeom>
              <a:blipFill>
                <a:blip r:embed="rId10"/>
                <a:stretch>
                  <a:fillRect l="-2421" t="-13580" b="-23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743793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BARGAINING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53A63"/>
                </a:solidFill>
                <a:latin typeface="Arial"/>
                <a:ea typeface="Arial"/>
              </a:rPr>
              <a:t>Finding a supplier is not the end: the price is negotiated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72621"/>
            <a:ext cx="11031866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The model uses Nash-in-Nash bargaining: each buyer–supplier pair bargains while other relationships are taken as given.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2557" y="1760969"/>
            <a:ext cx="5682224" cy="743985"/>
          </a:xfrm>
          <a:prstGeom prst="roundRect">
            <a:avLst>
              <a:gd name="adj" fmla="val 12000"/>
            </a:avLst>
          </a:prstGeom>
          <a:solidFill>
            <a:srgbClr val="EDF4FB"/>
          </a:solidFill>
          <a:ln w="1270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2586" y="3284080"/>
            <a:ext cx="104698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0" i="0" dirty="0">
                <a:solidFill>
                  <a:srgbClr val="5F6F80"/>
                </a:solidFill>
                <a:latin typeface="Arial"/>
                <a:ea typeface="Arial"/>
              </a:rPr>
              <a:t>The negotiated price is a weighted average of the current supplier's production cost and the cost associated with the reservation match.</a:t>
            </a:r>
            <a:endParaRPr b="0" i="0" dirty="0">
              <a:solidFill>
                <a:srgbClr val="5F6F80"/>
              </a:solidFill>
              <a:latin typeface="Arial"/>
              <a:ea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55186" y="1676924"/>
            <a:ext cx="4607280" cy="1528224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55186" y="1676924"/>
            <a:ext cx="65818" cy="1528224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56355" y="1841516"/>
                <a:ext cx="474122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ar-AE" b="1" i="1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Microsoft YaHei"/>
                        <a:cs typeface="Arial"/>
                      </a:rPr>
                      <m:t>𝜷</m:t>
                    </m:r>
                  </m:oMath>
                </a14:m>
                <a:r>
                  <a:rPr lang="en-US" b="1" dirty="0">
                    <a:solidFill>
                      <a:srgbClr val="153A63"/>
                    </a:solidFill>
                    <a:latin typeface="Arial"/>
                    <a:ea typeface="Arial"/>
                  </a:rPr>
                  <a:t>: the buyer's bargaining weight</a:t>
                </a:r>
                <a:endParaRPr b="1" i="0" dirty="0">
                  <a:solidFill>
                    <a:srgbClr val="153A63"/>
                  </a:solidFill>
                  <a:latin typeface="Arial"/>
                  <a:ea typeface="Arial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6355" y="1841516"/>
                <a:ext cx="4741224" cy="276999"/>
              </a:xfrm>
              <a:prstGeom prst="rect">
                <a:avLst/>
              </a:prstGeom>
              <a:blipFill>
                <a:blip r:embed="rId2"/>
                <a:stretch>
                  <a:fillRect l="-2317" t="-28261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6856354" y="2207878"/>
            <a:ext cx="424421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A larger β moves the price closer to the current supplier’s cost.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54642"/>
            <a:ext cx="4927064" cy="1165441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954642"/>
            <a:ext cx="50292" cy="1165441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4119234"/>
            <a:ext cx="256626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Outside 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7" y="4473484"/>
            <a:ext cx="4725897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If bargaining fails, the buyer can reject this supplier and search again.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796" y="3954642"/>
            <a:ext cx="4927064" cy="1165441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45796" y="3954642"/>
            <a:ext cx="50292" cy="1165441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6964" y="4119234"/>
            <a:ext cx="458695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Supplier bargaining power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6963" y="4473484"/>
            <a:ext cx="4725897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A stronger supplier position moves the price toward the buyer’s reservation cost.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959" y="5218182"/>
            <a:ext cx="950208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Tariffs change outside options, so prices can change even when supplier identity does not.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559378"/>
            <a:ext cx="10469880" cy="640080"/>
          </a:xfrm>
          <a:prstGeom prst="roundRect">
            <a:avLst>
              <a:gd name="adj" fmla="val 12000"/>
            </a:avLst>
          </a:prstGeom>
          <a:solidFill>
            <a:srgbClr val="DDEA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98124" y="5747666"/>
            <a:ext cx="902811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The relationship affects both the sourcing decision and the negotiated input price.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10">
                <a:extLst>
                  <a:ext uri="{FF2B5EF4-FFF2-40B4-BE49-F238E27FC236}">
                    <a16:creationId xmlns:a16="http://schemas.microsoft.com/office/drawing/2014/main" id="{9B026125-7028-3EA4-8EFF-B1D79892E5CD}"/>
                  </a:ext>
                </a:extLst>
              </p:cNvPr>
              <p:cNvSpPr txBox="1"/>
              <p:nvPr/>
            </p:nvSpPr>
            <p:spPr>
              <a:xfrm>
                <a:off x="781136" y="1918177"/>
                <a:ext cx="5564660" cy="41363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2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sz="2400" b="1" i="1" smtClean="0">
                          <a:solidFill>
                            <a:srgbClr val="17365D"/>
                          </a:solidFill>
                          <a:latin typeface="Cambria Math" panose="02040503050406030204" pitchFamily="18" charset="0"/>
                          <a:ea typeface="Microsoft YaHei"/>
                          <a:cs typeface="Arial"/>
                        </a:rPr>
                        <m:t>𝝆</m:t>
                      </m:r>
                      <m:d>
                        <m:dPr>
                          <m:ctrlPr>
                            <a:rPr lang="zh-CN" altLang="ar-AE" sz="2400" b="1" i="1">
                              <a:solidFill>
                                <a:srgbClr val="17365D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Arial"/>
                            </a:rPr>
                          </m:ctrlPr>
                        </m:dPr>
                        <m:e>
                          <m:r>
                            <a:rPr lang="zh-CN" altLang="ar-AE" sz="2400" b="1" i="1">
                              <a:solidFill>
                                <a:srgbClr val="17365D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Arial"/>
                            </a:rPr>
                            <m:t>𝒂</m:t>
                          </m:r>
                        </m:e>
                      </m:d>
                      <m:r>
                        <a:rPr lang="ar-AE" altLang="zh-CN" sz="2400" b="1" i="1">
                          <a:solidFill>
                            <a:srgbClr val="17365D"/>
                          </a:solidFill>
                          <a:latin typeface="Cambria Math" panose="02040503050406030204" pitchFamily="18" charset="0"/>
                          <a:ea typeface="Microsoft YaHei"/>
                          <a:cs typeface="Arial"/>
                        </a:rPr>
                        <m:t>=</m:t>
                      </m:r>
                      <m:r>
                        <a:rPr lang="zh-CN" altLang="ar-AE" sz="2400" b="1" i="1" smtClean="0">
                          <a:solidFill>
                            <a:srgbClr val="17365D"/>
                          </a:solidFill>
                          <a:latin typeface="Cambria Math" panose="02040503050406030204" pitchFamily="18" charset="0"/>
                          <a:ea typeface="Microsoft YaHei"/>
                          <a:cs typeface="Arial"/>
                        </a:rPr>
                        <m:t>𝜷</m:t>
                      </m:r>
                      <m:r>
                        <a:rPr lang="en-US" altLang="zh-CN" sz="2400" b="1" i="1" smtClean="0">
                          <a:solidFill>
                            <a:srgbClr val="17365D"/>
                          </a:solidFill>
                          <a:latin typeface="Cambria Math" panose="02040503050406030204" pitchFamily="18" charset="0"/>
                          <a:ea typeface="Microsoft YaHei"/>
                          <a:cs typeface="Arial"/>
                        </a:rPr>
                        <m:t>𝒘</m:t>
                      </m:r>
                      <m:r>
                        <a:rPr lang="zh-CN" altLang="ar-AE" sz="2400" b="1" i="1">
                          <a:solidFill>
                            <a:srgbClr val="17365D"/>
                          </a:solidFill>
                          <a:latin typeface="Cambria Math" panose="02040503050406030204" pitchFamily="18" charset="0"/>
                          <a:ea typeface="Microsoft YaHei"/>
                          <a:cs typeface="Arial"/>
                        </a:rPr>
                        <m:t>𝒂</m:t>
                      </m:r>
                      <m:r>
                        <a:rPr lang="en-US" altLang="zh-CN" sz="2400" b="1" i="1" smtClean="0">
                          <a:solidFill>
                            <a:srgbClr val="17365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+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17365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rgbClr val="17365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𝟏</m:t>
                          </m:r>
                          <m:r>
                            <a:rPr lang="en-US" altLang="zh-CN" sz="2400" b="1" i="1" smtClean="0">
                              <a:solidFill>
                                <a:srgbClr val="17365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zh-CN" altLang="en-US" sz="2400" b="1" i="1" smtClean="0">
                              <a:solidFill>
                                <a:srgbClr val="17365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𝜷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srgbClr val="17365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𝒘</m:t>
                      </m:r>
                      <m:acc>
                        <m:accPr>
                          <m:chr m:val="̅"/>
                          <m:ctrlPr>
                            <a:rPr lang="zh-CN" altLang="en-US" sz="2400" b="1" i="1">
                              <a:solidFill>
                                <a:srgbClr val="17365D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Arial"/>
                            </a:rPr>
                          </m:ctrlPr>
                        </m:accPr>
                        <m:e>
                          <m:r>
                            <a:rPr lang="zh-CN" altLang="en-US" sz="2400" b="1" i="1">
                              <a:solidFill>
                                <a:srgbClr val="17365D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Arial"/>
                            </a:rPr>
                            <m:t>𝒂</m:t>
                          </m:r>
                        </m:e>
                      </m:acc>
                    </m:oMath>
                  </m:oMathPara>
                </a14:m>
                <a:endParaRPr sz="2400" b="1" i="0" dirty="0">
                  <a:solidFill>
                    <a:srgbClr val="17365D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mc:Choice>
        <mc:Fallback xmlns="">
          <p:sp>
            <p:nvSpPr>
              <p:cNvPr id="33" name="TextBox 10">
                <a:extLst>
                  <a:ext uri="{FF2B5EF4-FFF2-40B4-BE49-F238E27FC236}">
                    <a16:creationId xmlns:a16="http://schemas.microsoft.com/office/drawing/2014/main" id="{9B026125-7028-3EA4-8EFF-B1D79892E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36" y="1918177"/>
                <a:ext cx="5564660" cy="4136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13">
                <a:extLst>
                  <a:ext uri="{FF2B5EF4-FFF2-40B4-BE49-F238E27FC236}">
                    <a16:creationId xmlns:a16="http://schemas.microsoft.com/office/drawing/2014/main" id="{58D63F0A-F953-2E69-DDCE-A03787083B19}"/>
                  </a:ext>
                </a:extLst>
              </p:cNvPr>
              <p:cNvSpPr txBox="1"/>
              <p:nvPr/>
            </p:nvSpPr>
            <p:spPr>
              <a:xfrm>
                <a:off x="6856355" y="2783556"/>
                <a:ext cx="460728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Microsoft YaHei"/>
                        <a:cs typeface="Arial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Microsoft YaHei"/>
                        <a:cs typeface="Arial"/>
                      </a:rPr>
                      <m:t>−</m:t>
                    </m:r>
                    <m:r>
                      <a:rPr lang="zh-CN" altLang="ar-AE" b="1" i="1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Microsoft YaHei"/>
                        <a:cs typeface="Arial"/>
                      </a:rPr>
                      <m:t>𝜷</m:t>
                    </m:r>
                  </m:oMath>
                </a14:m>
                <a:r>
                  <a:rPr lang="en-US" b="1" i="0" dirty="0">
                    <a:solidFill>
                      <a:srgbClr val="153A63"/>
                    </a:solidFill>
                    <a:latin typeface="Arial"/>
                    <a:ea typeface="Arial"/>
                  </a:rPr>
                  <a:t>: </a:t>
                </a:r>
                <a:r>
                  <a:rPr lang="en-US" b="1" dirty="0">
                    <a:solidFill>
                      <a:srgbClr val="153A63"/>
                    </a:solidFill>
                    <a:latin typeface="Arial"/>
                    <a:ea typeface="Arial"/>
                  </a:rPr>
                  <a:t>the supplier's bargaining weight</a:t>
                </a:r>
                <a:endParaRPr b="1" i="0" dirty="0">
                  <a:solidFill>
                    <a:srgbClr val="153A63"/>
                  </a:solidFill>
                  <a:latin typeface="Arial"/>
                  <a:ea typeface="Arial"/>
                </a:endParaRPr>
              </a:p>
            </p:txBody>
          </p:sp>
        </mc:Choice>
        <mc:Fallback xmlns="">
          <p:sp>
            <p:nvSpPr>
              <p:cNvPr id="10" name="TextBox 13">
                <a:extLst>
                  <a:ext uri="{FF2B5EF4-FFF2-40B4-BE49-F238E27FC236}">
                    <a16:creationId xmlns:a16="http://schemas.microsoft.com/office/drawing/2014/main" id="{58D63F0A-F953-2E69-DDCE-A03787083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6355" y="2783556"/>
                <a:ext cx="4607280" cy="276999"/>
              </a:xfrm>
              <a:prstGeom prst="rect">
                <a:avLst/>
              </a:prstGeom>
              <a:blipFill>
                <a:blip r:embed="rId4"/>
                <a:stretch>
                  <a:fillRect l="-1852" t="-28889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12">
            <a:extLst>
              <a:ext uri="{FF2B5EF4-FFF2-40B4-BE49-F238E27FC236}">
                <a16:creationId xmlns:a16="http://schemas.microsoft.com/office/drawing/2014/main" id="{75DBB423-3871-2ECF-19BD-8DFC25B485AA}"/>
              </a:ext>
            </a:extLst>
          </p:cNvPr>
          <p:cNvSpPr/>
          <p:nvPr/>
        </p:nvSpPr>
        <p:spPr>
          <a:xfrm>
            <a:off x="828416" y="2677993"/>
            <a:ext cx="91440" cy="9144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13">
                <a:extLst>
                  <a:ext uri="{FF2B5EF4-FFF2-40B4-BE49-F238E27FC236}">
                    <a16:creationId xmlns:a16="http://schemas.microsoft.com/office/drawing/2014/main" id="{90C84AF1-AF8B-1031-0157-F8FEF7FB5A5D}"/>
                  </a:ext>
                </a:extLst>
              </p:cNvPr>
              <p:cNvSpPr txBox="1"/>
              <p:nvPr/>
            </p:nvSpPr>
            <p:spPr>
              <a:xfrm>
                <a:off x="1029584" y="2613985"/>
                <a:ext cx="4701608" cy="2769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𝒘</m:t>
                    </m:r>
                    <m:r>
                      <a:rPr lang="zh-CN" altLang="en-US" b="1" i="1" smtClean="0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𝒂</m:t>
                    </m:r>
                    <m:r>
                      <a:rPr lang="en-US" altLang="zh-CN" b="1" i="1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 </m:t>
                    </m:r>
                  </m:oMath>
                </a14:m>
                <a:r>
                  <a:rPr lang="en-US" b="0" i="0" dirty="0">
                    <a:solidFill>
                      <a:srgbClr val="243447"/>
                    </a:solidFill>
                    <a:latin typeface="Arial"/>
                    <a:ea typeface="Arial"/>
                  </a:rPr>
                  <a:t>: </a:t>
                </a:r>
                <a:r>
                  <a:rPr lang="en-US" dirty="0">
                    <a:solidFill>
                      <a:srgbClr val="243447"/>
                    </a:solidFill>
                    <a:latin typeface="Arial"/>
                    <a:ea typeface="Arial"/>
                  </a:rPr>
                  <a:t>the current supplier's unit production cost</a:t>
                </a:r>
                <a:endParaRPr b="0" i="0" dirty="0">
                  <a:solidFill>
                    <a:srgbClr val="243447"/>
                  </a:solidFill>
                  <a:latin typeface="Arial"/>
                  <a:ea typeface="Arial"/>
                </a:endParaRPr>
              </a:p>
            </p:txBody>
          </p:sp>
        </mc:Choice>
        <mc:Fallback xmlns="">
          <p:sp>
            <p:nvSpPr>
              <p:cNvPr id="34" name="TextBox 13">
                <a:extLst>
                  <a:ext uri="{FF2B5EF4-FFF2-40B4-BE49-F238E27FC236}">
                    <a16:creationId xmlns:a16="http://schemas.microsoft.com/office/drawing/2014/main" id="{90C84AF1-AF8B-1031-0157-F8FEF7FB5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84" y="2613985"/>
                <a:ext cx="4701608" cy="276999"/>
              </a:xfrm>
              <a:prstGeom prst="rect">
                <a:avLst/>
              </a:prstGeom>
              <a:blipFill>
                <a:blip r:embed="rId5"/>
                <a:stretch>
                  <a:fillRect l="-1297" t="-28889" r="-2205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12">
            <a:extLst>
              <a:ext uri="{FF2B5EF4-FFF2-40B4-BE49-F238E27FC236}">
                <a16:creationId xmlns:a16="http://schemas.microsoft.com/office/drawing/2014/main" id="{51261EB8-71AA-C0AC-5393-7B3B0B854AA1}"/>
              </a:ext>
            </a:extLst>
          </p:cNvPr>
          <p:cNvSpPr/>
          <p:nvPr/>
        </p:nvSpPr>
        <p:spPr>
          <a:xfrm>
            <a:off x="828417" y="2996066"/>
            <a:ext cx="91440" cy="9144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13">
                <a:extLst>
                  <a:ext uri="{FF2B5EF4-FFF2-40B4-BE49-F238E27FC236}">
                    <a16:creationId xmlns:a16="http://schemas.microsoft.com/office/drawing/2014/main" id="{24DAE79E-F1DE-7992-F1BF-777430252C19}"/>
                  </a:ext>
                </a:extLst>
              </p:cNvPr>
              <p:cNvSpPr txBox="1"/>
              <p:nvPr/>
            </p:nvSpPr>
            <p:spPr>
              <a:xfrm>
                <a:off x="1029585" y="2932058"/>
                <a:ext cx="5184111" cy="2769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1736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𝒘</m:t>
                    </m:r>
                    <m:acc>
                      <m:accPr>
                        <m:chr m:val="̅"/>
                        <m:ctrlPr>
                          <a:rPr lang="zh-CN" altLang="en-US" b="1" i="1">
                            <a:solidFill>
                              <a:srgbClr val="17365D"/>
                            </a:solidFill>
                            <a:latin typeface="Cambria Math" panose="02040503050406030204" pitchFamily="18" charset="0"/>
                            <a:ea typeface="Microsoft YaHei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b="1" i="1">
                            <a:solidFill>
                              <a:srgbClr val="17365D"/>
                            </a:solidFill>
                            <a:latin typeface="Cambria Math" panose="02040503050406030204" pitchFamily="18" charset="0"/>
                            <a:ea typeface="Microsoft YaHei"/>
                            <a:cs typeface="Arial"/>
                          </a:rPr>
                          <m:t>𝒂</m:t>
                        </m:r>
                      </m:e>
                    </m:acc>
                  </m:oMath>
                </a14:m>
                <a:r>
                  <a:rPr b="0" i="0" dirty="0">
                    <a:solidFill>
                      <a:srgbClr val="243447"/>
                    </a:solidFill>
                    <a:latin typeface="Arial"/>
                    <a:ea typeface="Arial"/>
                  </a:rPr>
                  <a:t>: </a:t>
                </a:r>
                <a:r>
                  <a:rPr lang="en-US" dirty="0">
                    <a:solidFill>
                      <a:srgbClr val="243447"/>
                    </a:solidFill>
                    <a:latin typeface="Arial"/>
                    <a:ea typeface="Arial"/>
                  </a:rPr>
                  <a:t>the cost associated with the reservation match</a:t>
                </a:r>
                <a:endParaRPr b="0" i="0" dirty="0">
                  <a:solidFill>
                    <a:srgbClr val="243447"/>
                  </a:solidFill>
                  <a:latin typeface="Arial"/>
                  <a:ea typeface="Arial"/>
                </a:endParaRPr>
              </a:p>
            </p:txBody>
          </p:sp>
        </mc:Choice>
        <mc:Fallback xmlns="">
          <p:sp>
            <p:nvSpPr>
              <p:cNvPr id="40" name="TextBox 13">
                <a:extLst>
                  <a:ext uri="{FF2B5EF4-FFF2-40B4-BE49-F238E27FC236}">
                    <a16:creationId xmlns:a16="http://schemas.microsoft.com/office/drawing/2014/main" id="{24DAE79E-F1DE-7992-F1BF-777430252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85" y="2932058"/>
                <a:ext cx="5184111" cy="276999"/>
              </a:xfrm>
              <a:prstGeom prst="rect">
                <a:avLst/>
              </a:prstGeom>
              <a:blipFill>
                <a:blip r:embed="rId6"/>
                <a:stretch>
                  <a:fillRect l="-1176" t="-28889" r="-2118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859210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TARIFF SHOCK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 dirty="0">
                <a:solidFill>
                  <a:srgbClr val="153A63"/>
                </a:solidFill>
                <a:latin typeface="Arial"/>
                <a:ea typeface="Arial"/>
              </a:rPr>
              <a:t>Core result: small and large tariffs trigger different responses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4135"/>
            <a:ext cx="5074920" cy="242316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04135"/>
            <a:ext cx="50292" cy="242316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1768727"/>
            <a:ext cx="132087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Small tariffs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225927"/>
            <a:ext cx="4690872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• Existing suppliers may retain a cost advantage.
• Firms may retain incumbent relationships.
• Renegotiation changes transaction prices.
• No new search or entry is triggered in the model’s small-tariff region.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604135"/>
            <a:ext cx="5074920" cy="242316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5352" y="1604135"/>
            <a:ext cx="50292" cy="242316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768727"/>
            <a:ext cx="133369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Large tariffs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25927"/>
            <a:ext cx="4690872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• The tariff-inclusive cost of the original source rises.
• New searches shift toward </a:t>
            </a:r>
            <a:r>
              <a:rPr b="0" i="0" dirty="0" err="1">
                <a:solidFill>
                  <a:srgbClr val="243447"/>
                </a:solidFill>
                <a:latin typeface="Arial"/>
                <a:ea typeface="Arial"/>
              </a:rPr>
              <a:t>untariffed</a:t>
            </a:r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 alternatives.
• Once the critical threshold is crossed, some incumbent relationships are replaced.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14777"/>
            <a:ext cx="10561320" cy="827529"/>
          </a:xfrm>
          <a:prstGeom prst="roundRect">
            <a:avLst>
              <a:gd name="adj" fmla="val 12000"/>
            </a:avLst>
          </a:prstGeom>
          <a:solidFill>
            <a:srgbClr val="153A6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105" y="4651542"/>
            <a:ext cx="973958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i="0" dirty="0">
                <a:solidFill>
                  <a:srgbClr val="FFFFFF"/>
                </a:solidFill>
                <a:latin typeface="Arial"/>
                <a:ea typeface="Arial"/>
              </a:rPr>
              <a:t>A change in the destination of new search does not imply immediate termination of existing supplier relationships.</a:t>
            </a: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9884972C-45EE-EA0A-2BC1-62CED1DAD9A5}"/>
              </a:ext>
            </a:extLst>
          </p:cNvPr>
          <p:cNvSpPr txBox="1"/>
          <p:nvPr/>
        </p:nvSpPr>
        <p:spPr>
          <a:xfrm>
            <a:off x="777240" y="5709250"/>
            <a:ext cx="104698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0" i="0" dirty="0">
                <a:solidFill>
                  <a:srgbClr val="5F6F80"/>
                </a:solidFill>
                <a:latin typeface="Arial"/>
                <a:ea typeface="Arial"/>
              </a:rPr>
              <a:t>Supplier reorganization is a dynamic process shaped by thresholds and adjustment costs.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795089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53A63"/>
                </a:solidFill>
                <a:latin typeface="Arial"/>
                <a:ea typeface="Arial"/>
              </a:rPr>
              <a:t>Two thresholds: new search versus replacement of incumbents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45992" y="1318193"/>
                <a:ext cx="752932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263746"/>
                        </a:solidFill>
                        <a:latin typeface="Cambria Math" panose="02040503050406030204" pitchFamily="18" charset="0"/>
                        <a:ea typeface="Microsoft YaHei"/>
                        <a:cs typeface="Arial"/>
                      </a:rPr>
                      <m:t>𝜏</m:t>
                    </m:r>
                  </m:oMath>
                </a14:m>
                <a:r>
                  <a:rPr lang="en-US" b="0" i="0" dirty="0">
                    <a:solidFill>
                      <a:srgbClr val="5F6F80"/>
                    </a:solidFill>
                    <a:latin typeface="Arial"/>
                    <a:ea typeface="Arial"/>
                  </a:rPr>
                  <a:t> denotes one plus the ad valorem tariff rate.</a:t>
                </a:r>
                <a:endParaRPr b="0" i="0" dirty="0">
                  <a:solidFill>
                    <a:srgbClr val="5F6F80"/>
                  </a:solidFill>
                  <a:latin typeface="Arial"/>
                  <a:ea typeface="Arial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92" y="1318193"/>
                <a:ext cx="7529327" cy="276999"/>
              </a:xfrm>
              <a:prstGeom prst="rect">
                <a:avLst/>
              </a:prstGeom>
              <a:blipFill>
                <a:blip r:embed="rId2"/>
                <a:stretch>
                  <a:fillRect l="-810" t="-28261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847" y="1829138"/>
            <a:ext cx="991733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When the alternative source is more costly, a larger tariff is needed to change sourcing decisions.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3435362"/>
            <a:ext cx="9509760" cy="0"/>
          </a:xfrm>
          <a:prstGeom prst="line">
            <a:avLst/>
          </a:prstGeom>
          <a:ln w="31750">
            <a:solidFill>
              <a:srgbClr val="2F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920240" y="3203554"/>
            <a:ext cx="512064" cy="512064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898498"/>
            <a:ext cx="30175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Original source retains a cost advantage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3203554"/>
            <a:ext cx="512064" cy="512064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3898498"/>
            <a:ext cx="30175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New searches shift to an </a:t>
            </a:r>
            <a:r>
              <a:rPr b="0" i="0" dirty="0" err="1">
                <a:solidFill>
                  <a:srgbClr val="243447"/>
                </a:solidFill>
                <a:latin typeface="Arial"/>
                <a:ea typeface="Arial"/>
              </a:rPr>
              <a:t>untariffed</a:t>
            </a:r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 source</a:t>
            </a:r>
          </a:p>
        </p:txBody>
      </p:sp>
      <p:sp>
        <p:nvSpPr>
          <p:cNvPr id="17" name="Oval 16"/>
          <p:cNvSpPr/>
          <p:nvPr/>
        </p:nvSpPr>
        <p:spPr>
          <a:xfrm>
            <a:off x="9555480" y="3203554"/>
            <a:ext cx="512064" cy="512064"/>
          </a:xfrm>
          <a:prstGeom prst="ellipse">
            <a:avLst/>
          </a:prstGeom>
          <a:solidFill>
            <a:srgbClr val="153A6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9" y="3898498"/>
            <a:ext cx="30175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>
                <a:solidFill>
                  <a:srgbClr val="243447"/>
                </a:solidFill>
                <a:latin typeface="Arial"/>
                <a:ea typeface="Arial"/>
              </a:rPr>
              <a:t>Some incumbent relationships are replaced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63235"/>
            <a:ext cx="10515600" cy="764941"/>
          </a:xfrm>
          <a:prstGeom prst="roundRect">
            <a:avLst>
              <a:gd name="adj" fmla="val 12000"/>
            </a:avLst>
          </a:prstGeom>
          <a:solidFill>
            <a:srgbClr val="ED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182108"/>
            <a:ext cx="101498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As tariffs rise, more low-productivity incumbent matches may be replaced—but replacement and search can be more expensive.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11">
                <a:extLst>
                  <a:ext uri="{FF2B5EF4-FFF2-40B4-BE49-F238E27FC236}">
                    <a16:creationId xmlns:a16="http://schemas.microsoft.com/office/drawing/2014/main" id="{F6FAFE5B-701D-7DE2-3402-55A10F02B3AB}"/>
                  </a:ext>
                </a:extLst>
              </p:cNvPr>
              <p:cNvSpPr txBox="1"/>
              <p:nvPr/>
            </p:nvSpPr>
            <p:spPr>
              <a:xfrm>
                <a:off x="1124712" y="2488560"/>
                <a:ext cx="2103120" cy="64434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2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 smtClean="0">
                          <a:solidFill>
                            <a:srgbClr val="263746"/>
                          </a:solidFill>
                          <a:latin typeface="Cambria Math" panose="02040503050406030204" pitchFamily="18" charset="0"/>
                          <a:ea typeface="Microsoft YaHei"/>
                          <a:cs typeface="Arial"/>
                        </a:rPr>
                        <m:t>𝜏</m:t>
                      </m:r>
                      <m:r>
                        <a:rPr lang="en-US" altLang="zh-CN" sz="2000" i="1" smtClean="0">
                          <a:solidFill>
                            <a:srgbClr val="263746"/>
                          </a:solidFill>
                          <a:latin typeface="Cambria Math" panose="02040503050406030204" pitchFamily="18" charset="0"/>
                          <a:ea typeface="Microsoft YaHei"/>
                          <a:cs typeface="Arial"/>
                        </a:rPr>
                        <m:t>≤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rgbClr val="263746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Arial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263746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263746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263746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263746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263746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263746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sz="2000" b="1" i="0" dirty="0">
                  <a:solidFill>
                    <a:srgbClr val="17365D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mc:Choice>
        <mc:Fallback xmlns="">
          <p:sp>
            <p:nvSpPr>
              <p:cNvPr id="23" name="TextBox 11">
                <a:extLst>
                  <a:ext uri="{FF2B5EF4-FFF2-40B4-BE49-F238E27FC236}">
                    <a16:creationId xmlns:a16="http://schemas.microsoft.com/office/drawing/2014/main" id="{F6FAFE5B-701D-7DE2-3402-55A10F02B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12" y="2488560"/>
                <a:ext cx="2103120" cy="6443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14">
                <a:extLst>
                  <a:ext uri="{FF2B5EF4-FFF2-40B4-BE49-F238E27FC236}">
                    <a16:creationId xmlns:a16="http://schemas.microsoft.com/office/drawing/2014/main" id="{44DE07A1-493C-DBA5-42FD-2D5D628F1E33}"/>
                  </a:ext>
                </a:extLst>
              </p:cNvPr>
              <p:cNvSpPr txBox="1"/>
              <p:nvPr/>
            </p:nvSpPr>
            <p:spPr>
              <a:xfrm>
                <a:off x="5120186" y="2488560"/>
                <a:ext cx="2103120" cy="64434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2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ar-AE" sz="2000" i="1">
                          <a:solidFill>
                            <a:srgbClr val="263746"/>
                          </a:solidFill>
                          <a:latin typeface="Cambria Math" panose="02040503050406030204" pitchFamily="18" charset="0"/>
                          <a:ea typeface="Microsoft YaHei"/>
                          <a:cs typeface="Arial"/>
                        </a:rPr>
                        <m:t>𝜏</m:t>
                      </m:r>
                      <m:r>
                        <a:rPr lang="ar-AE" altLang="zh-CN" sz="2000" i="1" smtClean="0">
                          <a:solidFill>
                            <a:srgbClr val="263746"/>
                          </a:solidFill>
                          <a:latin typeface="Cambria Math" panose="02040503050406030204" pitchFamily="18" charset="0"/>
                          <a:ea typeface="Microsoft YaHei"/>
                          <a:cs typeface="Arial"/>
                        </a:rPr>
                        <m:t>&gt;</m:t>
                      </m:r>
                      <m:f>
                        <m:fPr>
                          <m:ctrlPr>
                            <a:rPr lang="zh-CN" altLang="ar-AE" sz="2000" i="1">
                              <a:solidFill>
                                <a:srgbClr val="263746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Arial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ar-AE" sz="2000" i="1">
                                  <a:solidFill>
                                    <a:srgbClr val="263746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zh-CN" altLang="ar-AE" sz="2000" i="1">
                                  <a:solidFill>
                                    <a:srgbClr val="263746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ar-AE" sz="2000" i="1">
                                  <a:solidFill>
                                    <a:srgbClr val="263746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ar-AE" sz="2000" i="1">
                                  <a:solidFill>
                                    <a:srgbClr val="263746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zh-CN" altLang="ar-AE" sz="2000" i="1">
                                  <a:solidFill>
                                    <a:srgbClr val="263746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ar-AE" sz="2000" i="1">
                                  <a:solidFill>
                                    <a:srgbClr val="263746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Arial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altLang="zh-CN" sz="2000" b="1" dirty="0">
                  <a:solidFill>
                    <a:srgbClr val="17365D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mc:Choice>
        <mc:Fallback xmlns="">
          <p:sp>
            <p:nvSpPr>
              <p:cNvPr id="25" name="TextBox 14">
                <a:extLst>
                  <a:ext uri="{FF2B5EF4-FFF2-40B4-BE49-F238E27FC236}">
                    <a16:creationId xmlns:a16="http://schemas.microsoft.com/office/drawing/2014/main" id="{44DE07A1-493C-DBA5-42FD-2D5D628F1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186" y="2488560"/>
                <a:ext cx="2103120" cy="6443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17">
                <a:extLst>
                  <a:ext uri="{FF2B5EF4-FFF2-40B4-BE49-F238E27FC236}">
                    <a16:creationId xmlns:a16="http://schemas.microsoft.com/office/drawing/2014/main" id="{3538DD63-B1F0-32F9-BA96-49CC07B1EDD1}"/>
                  </a:ext>
                </a:extLst>
              </p:cNvPr>
              <p:cNvSpPr txBox="1"/>
              <p:nvPr/>
            </p:nvSpPr>
            <p:spPr>
              <a:xfrm>
                <a:off x="8759952" y="2677037"/>
                <a:ext cx="2103120" cy="34471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2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ar-AE" sz="2000" i="1" smtClean="0">
                          <a:solidFill>
                            <a:srgbClr val="263746"/>
                          </a:solidFill>
                          <a:latin typeface="Cambria Math" panose="02040503050406030204" pitchFamily="18" charset="0"/>
                          <a:ea typeface="Microsoft YaHei"/>
                          <a:cs typeface="Arial"/>
                        </a:rPr>
                        <m:t>𝜏</m:t>
                      </m:r>
                      <m:r>
                        <a:rPr lang="ar-AE" altLang="zh-CN" sz="2000" i="1" smtClean="0">
                          <a:solidFill>
                            <a:srgbClr val="263746"/>
                          </a:solidFill>
                          <a:latin typeface="Cambria Math" panose="02040503050406030204" pitchFamily="18" charset="0"/>
                          <a:ea typeface="Microsoft YaHei"/>
                          <a:cs typeface="Arial"/>
                        </a:rPr>
                        <m:t>&gt;</m:t>
                      </m:r>
                      <m:sSub>
                        <m:sSubPr>
                          <m:ctrlPr>
                            <a:rPr lang="zh-CN" altLang="ar-AE" sz="2000" i="1" smtClean="0">
                              <a:solidFill>
                                <a:srgbClr val="263746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Arial"/>
                            </a:rPr>
                          </m:ctrlPr>
                        </m:sSubPr>
                        <m:e>
                          <m:r>
                            <a:rPr lang="zh-CN" altLang="ar-AE" sz="2000" i="1" smtClean="0">
                              <a:solidFill>
                                <a:srgbClr val="263746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Arial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263746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Arial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ar-AE" altLang="zh-CN" sz="2000" b="1" dirty="0">
                  <a:solidFill>
                    <a:srgbClr val="17365D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mc:Choice>
        <mc:Fallback xmlns="">
          <p:sp>
            <p:nvSpPr>
              <p:cNvPr id="27" name="TextBox 17">
                <a:extLst>
                  <a:ext uri="{FF2B5EF4-FFF2-40B4-BE49-F238E27FC236}">
                    <a16:creationId xmlns:a16="http://schemas.microsoft.com/office/drawing/2014/main" id="{3538DD63-B1F0-32F9-BA96-49CC07B1E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952" y="2677037"/>
                <a:ext cx="2103120" cy="344710"/>
              </a:xfrm>
              <a:prstGeom prst="rect">
                <a:avLst/>
              </a:prstGeom>
              <a:blipFill>
                <a:blip r:embed="rId5"/>
                <a:stretch>
                  <a:fillRect b="-7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158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000" b="1" i="0" dirty="0">
                <a:solidFill>
                  <a:srgbClr val="2F65A8"/>
                </a:solidFill>
                <a:latin typeface="Arial"/>
                <a:ea typeface="Microsoft YaHei"/>
                <a:cs typeface="Arial"/>
              </a:rPr>
              <a:t>WELFARE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57784"/>
            <a:ext cx="110185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2800" b="1" dirty="0">
                <a:solidFill>
                  <a:srgbClr val="153A63"/>
                </a:solidFill>
                <a:latin typeface="Arial"/>
                <a:ea typeface="Arial"/>
              </a:rPr>
              <a:t>How do tariffs affect domestic welfare?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92240"/>
            <a:ext cx="11064240" cy="0"/>
          </a:xfrm>
          <a:prstGeom prst="line">
            <a:avLst/>
          </a:prstGeom>
          <a:ln w="10160">
            <a:solidFill>
              <a:srgbClr val="D7E1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11018520" y="653796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57789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20102"/>
            <a:ext cx="10561320" cy="685800"/>
          </a:xfrm>
          <a:prstGeom prst="roundRect">
            <a:avLst>
              <a:gd name="adj" fmla="val 8000"/>
            </a:avLst>
          </a:prstGeom>
          <a:solidFill>
            <a:srgbClr val="17365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005840" y="1912126"/>
                <a:ext cx="10104120" cy="34471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2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b="1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Microsoft YaHei"/>
                          <a:cs typeface="Arial"/>
                        </a:rPr>
                        <m:t>𝑽</m:t>
                      </m:r>
                      <m:d>
                        <m:dPr>
                          <m:ctrlPr>
                            <a:rPr lang="zh-CN" altLang="en-US" sz="20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Arial"/>
                            </a:rPr>
                          </m:ctrlPr>
                        </m:dPr>
                        <m:e>
                          <m:r>
                            <a:rPr lang="zh-CN" altLang="en-US" sz="20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Arial"/>
                            </a:rPr>
                            <m:t>𝝉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 </m:t>
                      </m:r>
                      <m:r>
                        <a:rPr lang="en-US" altLang="zh-CN" sz="20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𝑭𝒊𝒓𝒎</m:t>
                      </m:r>
                      <m:r>
                        <a:rPr lang="en-US" altLang="zh-CN" sz="20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 </m:t>
                      </m:r>
                      <m:r>
                        <a:rPr lang="en-US" altLang="zh-CN" sz="20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𝒑𝒓𝒐𝒇𝒊𝒕𝒔</m:t>
                      </m:r>
                      <m:r>
                        <a:rPr lang="en-US" altLang="zh-CN" sz="20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 + </m:t>
                      </m:r>
                      <m:r>
                        <a:rPr lang="en-US" altLang="zh-CN" sz="20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𝑻𝒂𝒓𝒊𝒇𝒇</m:t>
                      </m:r>
                      <m:r>
                        <a:rPr lang="en-US" altLang="zh-CN" sz="20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 </m:t>
                      </m:r>
                      <m:r>
                        <a:rPr lang="en-US" altLang="zh-CN" sz="20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𝒓𝒆𝒗𝒆𝒏𝒖𝒆</m:t>
                      </m:r>
                      <m:r>
                        <a:rPr lang="en-US" altLang="zh-CN" sz="20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 + </m:t>
                      </m:r>
                      <m:r>
                        <a:rPr lang="en-US" altLang="zh-CN" sz="20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𝑪𝒐𝒏𝒔𝒖𝒎𝒆𝒓</m:t>
                      </m:r>
                      <m:r>
                        <a:rPr lang="en-US" altLang="zh-CN" sz="20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 </m:t>
                      </m:r>
                      <m:r>
                        <a:rPr lang="en-US" altLang="zh-CN" sz="20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𝒔𝒖𝒓𝒑𝒍𝒖𝒔</m:t>
                      </m:r>
                    </m:oMath>
                  </m:oMathPara>
                </a14:m>
                <a:endParaRPr sz="2000" b="1" i="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1912126"/>
                <a:ext cx="10104120" cy="344710"/>
              </a:xfrm>
              <a:prstGeom prst="rect">
                <a:avLst/>
              </a:prstGeom>
              <a:blipFill>
                <a:blip r:embed="rId2"/>
                <a:stretch>
                  <a:fillRect b="-26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822960" y="2678703"/>
            <a:ext cx="594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2300" b="1" i="0">
                <a:solidFill>
                  <a:srgbClr val="2F65A8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99911"/>
            <a:ext cx="3246120" cy="285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zh-CN" b="1" dirty="0">
                <a:solidFill>
                  <a:srgbClr val="153A63"/>
                </a:solidFill>
                <a:latin typeface="Arial"/>
                <a:ea typeface="Arial"/>
              </a:rPr>
              <a:t>Labor and output</a:t>
            </a:r>
            <a:endParaRPr b="1" i="0" dirty="0">
              <a:solidFill>
                <a:srgbClr val="17365D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820615"/>
            <a:ext cx="31546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dirty="0">
                <a:solidFill>
                  <a:srgbClr val="243447"/>
                </a:solidFill>
                <a:latin typeface="Arial"/>
                <a:ea typeface="Arial"/>
              </a:rPr>
              <a:t>Higher costs affect production scale, labor use, and final-good consumption.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51376" y="2648309"/>
            <a:ext cx="0" cy="2276856"/>
          </a:xfrm>
          <a:prstGeom prst="line">
            <a:avLst/>
          </a:prstGeom>
          <a:ln w="12700">
            <a:solidFill>
              <a:srgbClr val="D7E1EB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4480560" y="2678703"/>
            <a:ext cx="594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2300" b="1" i="0">
                <a:solidFill>
                  <a:srgbClr val="2F65A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199911"/>
            <a:ext cx="3246120" cy="285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zh-CN" b="1" dirty="0">
                <a:solidFill>
                  <a:srgbClr val="153A63"/>
                </a:solidFill>
                <a:latin typeface="Arial"/>
                <a:ea typeface="Arial"/>
              </a:rPr>
              <a:t>Intermediate-input use</a:t>
            </a:r>
            <a:endParaRPr b="1" i="0" dirty="0">
              <a:solidFill>
                <a:srgbClr val="17365D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80560" y="3820615"/>
            <a:ext cx="315468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dirty="0">
                <a:solidFill>
                  <a:srgbClr val="243447"/>
                </a:solidFill>
                <a:latin typeface="Arial"/>
                <a:ea typeface="Arial"/>
              </a:rPr>
              <a:t>Decentralized bargaining can create a wedge between private marginal cost and social cost.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08976" y="2648309"/>
            <a:ext cx="0" cy="2276856"/>
          </a:xfrm>
          <a:prstGeom prst="line">
            <a:avLst/>
          </a:prstGeom>
          <a:ln w="12700">
            <a:solidFill>
              <a:srgbClr val="D7E1EB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8138159" y="2678703"/>
            <a:ext cx="594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2300" b="1" i="0">
                <a:solidFill>
                  <a:srgbClr val="2F65A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199911"/>
            <a:ext cx="32461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b="1" dirty="0">
                <a:solidFill>
                  <a:srgbClr val="153A63"/>
                </a:solidFill>
                <a:latin typeface="Arial"/>
                <a:ea typeface="Arial"/>
              </a:rPr>
              <a:t>Real input costs and terms of trade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3820615"/>
            <a:ext cx="31546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dirty="0">
                <a:solidFill>
                  <a:srgbClr val="243447"/>
                </a:solidFill>
                <a:latin typeface="Arial"/>
                <a:ea typeface="Arial"/>
              </a:rPr>
              <a:t>Substitute-source costs, negotiated prices, and search costs jointly determine welfare.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230367"/>
            <a:ext cx="10469880" cy="80103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364802"/>
            <a:ext cx="10058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zh-CN" b="1" dirty="0">
                <a:solidFill>
                  <a:srgbClr val="153A63"/>
                </a:solidFill>
                <a:latin typeface="Arial"/>
                <a:ea typeface="Arial"/>
              </a:rPr>
              <a:t>With tariff revenue rebated domestically, the welfare loss comes from real resource allocation and production changes—not from the transfer itself.</a:t>
            </a:r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E381B22D-0550-D21B-7DCE-616E39A0CD2E}"/>
              </a:ext>
            </a:extLst>
          </p:cNvPr>
          <p:cNvSpPr txBox="1"/>
          <p:nvPr/>
        </p:nvSpPr>
        <p:spPr>
          <a:xfrm>
            <a:off x="585216" y="1205067"/>
            <a:ext cx="1107995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The paper decomposes the welfare response into production, input use, and real input costs / terms of trade.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1256754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EMPIRICAL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53A63"/>
                </a:solidFill>
                <a:latin typeface="Arial"/>
                <a:ea typeface="Arial"/>
              </a:rPr>
              <a:t>Empirical fact: higher relative tariffs are associated with sourcing shifts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4229"/>
            <a:ext cx="968213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U.S. customs monthly data; source–HTS10–month observations, January 2016–October 2019.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1060704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 dirty="0">
                <a:solidFill>
                  <a:srgbClr val="5F6F80"/>
                </a:solidFill>
                <a:latin typeface="Arial"/>
                <a:ea typeface="Arial"/>
              </a:rPr>
              <a:t>Grossman, </a:t>
            </a:r>
            <a:r>
              <a:rPr sz="800" b="0" i="0" dirty="0" err="1">
                <a:solidFill>
                  <a:srgbClr val="5F6F80"/>
                </a:solidFill>
                <a:latin typeface="Arial"/>
                <a:ea typeface="Arial"/>
              </a:rPr>
              <a:t>Helpman</a:t>
            </a:r>
            <a:r>
              <a:rPr sz="800" b="0" i="0" dirty="0">
                <a:solidFill>
                  <a:srgbClr val="5F6F80"/>
                </a:solidFill>
                <a:latin typeface="Arial"/>
                <a:ea typeface="Arial"/>
              </a:rPr>
              <a:t> &amp; Redding (2024)  |  American Economic Review  |  Table 1, pp. 990–991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83583"/>
            <a:ext cx="2834640" cy="429768"/>
          </a:xfrm>
          <a:prstGeom prst="rect">
            <a:avLst/>
          </a:prstGeom>
          <a:solidFill>
            <a:srgbClr val="153A63"/>
          </a:solidFill>
          <a:ln>
            <a:noFill/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1848131" y="1781600"/>
            <a:ext cx="63799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Arial"/>
                <a:ea typeface="Arial"/>
              </a:rPr>
              <a:t>Sample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84448" y="1683583"/>
            <a:ext cx="1970830" cy="429768"/>
          </a:xfrm>
          <a:prstGeom prst="rect">
            <a:avLst/>
          </a:prstGeom>
          <a:solidFill>
            <a:srgbClr val="153A63"/>
          </a:solidFill>
          <a:ln>
            <a:noFill/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3919779" y="1781600"/>
            <a:ext cx="126570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Arial"/>
              </a:rPr>
              <a:t>China imports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58967" y="1683583"/>
            <a:ext cx="2066969" cy="429768"/>
          </a:xfrm>
          <a:prstGeom prst="rect">
            <a:avLst/>
          </a:prstGeom>
          <a:solidFill>
            <a:srgbClr val="153A63"/>
          </a:solidFill>
          <a:ln>
            <a:noFill/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5638972" y="1781600"/>
            <a:ext cx="1688465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Arial"/>
              </a:rPr>
              <a:t>Other Asia imports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24927" y="1683583"/>
            <a:ext cx="1970830" cy="429768"/>
          </a:xfrm>
          <a:prstGeom prst="rect">
            <a:avLst/>
          </a:prstGeom>
          <a:solidFill>
            <a:srgbClr val="153A63"/>
          </a:solidFill>
          <a:ln>
            <a:noFill/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7760259" y="1781600"/>
            <a:ext cx="126570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Arial"/>
                <a:ea typeface="Arial"/>
              </a:rPr>
              <a:t>China imports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9446" y="1683583"/>
            <a:ext cx="2066969" cy="429768"/>
          </a:xfrm>
          <a:prstGeom prst="rect">
            <a:avLst/>
          </a:prstGeom>
          <a:solidFill>
            <a:srgbClr val="153A63"/>
          </a:solidFill>
          <a:ln>
            <a:noFill/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9479451" y="1781600"/>
            <a:ext cx="1688465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Arial"/>
              </a:rPr>
              <a:t>Other Asia imports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113351"/>
            <a:ext cx="2834640" cy="411480"/>
          </a:xfrm>
          <a:prstGeom prst="rect">
            <a:avLst/>
          </a:prstGeom>
          <a:solidFill>
            <a:srgbClr val="EDF4FB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2167096" y="2063727"/>
            <a:ext cx="65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endParaRPr sz="3200"/>
          </a:p>
        </p:txBody>
      </p:sp>
      <p:sp>
        <p:nvSpPr>
          <p:cNvPr id="21" name="Rectangle 20"/>
          <p:cNvSpPr/>
          <p:nvPr/>
        </p:nvSpPr>
        <p:spPr>
          <a:xfrm>
            <a:off x="3584448" y="2113351"/>
            <a:ext cx="1970830" cy="411480"/>
          </a:xfrm>
          <a:prstGeom prst="rect">
            <a:avLst/>
          </a:prstGeom>
          <a:solidFill>
            <a:srgbClr val="EDF4FB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4169848" y="2217615"/>
            <a:ext cx="73987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dirty="0">
                <a:solidFill>
                  <a:srgbClr val="153A63"/>
                </a:solidFill>
                <a:latin typeface="Arial"/>
                <a:ea typeface="Arial"/>
              </a:rPr>
              <a:t>All goods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58967" y="2113351"/>
            <a:ext cx="2066969" cy="411480"/>
          </a:xfrm>
          <a:prstGeom prst="rect">
            <a:avLst/>
          </a:prstGeom>
          <a:solidFill>
            <a:srgbClr val="EDF4FB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6090088" y="2217615"/>
            <a:ext cx="73987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dirty="0">
                <a:solidFill>
                  <a:srgbClr val="153A63"/>
                </a:solidFill>
                <a:latin typeface="Arial"/>
                <a:ea typeface="Arial"/>
              </a:rPr>
              <a:t>All goods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24927" y="2113351"/>
            <a:ext cx="1970830" cy="411480"/>
          </a:xfrm>
          <a:prstGeom prst="rect">
            <a:avLst/>
          </a:prstGeom>
          <a:solidFill>
            <a:srgbClr val="EDF4FB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7540647" y="2217615"/>
            <a:ext cx="172749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dirty="0">
                <a:solidFill>
                  <a:srgbClr val="153A63"/>
                </a:solidFill>
                <a:latin typeface="Arial"/>
                <a:ea typeface="Arial"/>
              </a:rPr>
              <a:t>Excl. consumer goods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99446" y="2113351"/>
            <a:ext cx="2066969" cy="411480"/>
          </a:xfrm>
          <a:prstGeom prst="rect">
            <a:avLst/>
          </a:prstGeom>
          <a:solidFill>
            <a:srgbClr val="EDF4FB"/>
          </a:solidFill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9460887" y="2217615"/>
            <a:ext cx="172749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dirty="0">
                <a:solidFill>
                  <a:srgbClr val="153A63"/>
                </a:solidFill>
                <a:latin typeface="Arial"/>
                <a:ea typeface="Arial"/>
              </a:rPr>
              <a:t>Excl. consumer goods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2524831"/>
            <a:ext cx="2834640" cy="502920"/>
          </a:xfrm>
          <a:prstGeom prst="rect">
            <a:avLst/>
          </a:prstGeom>
          <a:solidFill>
            <a:srgbClr val="F6F9FC"/>
          </a:solidFill>
          <a:ln w="508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1392075" y="2654853"/>
            <a:ext cx="155010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53A63"/>
                </a:solidFill>
                <a:latin typeface="Arial"/>
                <a:ea typeface="Arial"/>
              </a:rPr>
              <a:t>Log relative tariffs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8" y="2524831"/>
            <a:ext cx="1970830" cy="502920"/>
          </a:xfrm>
          <a:prstGeom prst="rect">
            <a:avLst/>
          </a:prstGeom>
          <a:solidFill>
            <a:srgbClr val="F6F9FC"/>
          </a:solidFill>
          <a:ln w="508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4031189" y="2624076"/>
            <a:ext cx="10314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−1.713***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58967" y="2524831"/>
            <a:ext cx="2066969" cy="502920"/>
          </a:xfrm>
          <a:prstGeom prst="rect">
            <a:avLst/>
          </a:prstGeom>
          <a:solidFill>
            <a:srgbClr val="F6F9FC"/>
          </a:solidFill>
          <a:ln w="508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TextBox 33"/>
          <p:cNvSpPr txBox="1"/>
          <p:nvPr/>
        </p:nvSpPr>
        <p:spPr>
          <a:xfrm>
            <a:off x="5951428" y="2624076"/>
            <a:ext cx="10314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+0.339***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24927" y="2524831"/>
            <a:ext cx="1970830" cy="502920"/>
          </a:xfrm>
          <a:prstGeom prst="rect">
            <a:avLst/>
          </a:prstGeom>
          <a:solidFill>
            <a:srgbClr val="F6F9FC"/>
          </a:solidFill>
          <a:ln w="508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6" name="TextBox 35"/>
          <p:cNvSpPr txBox="1"/>
          <p:nvPr/>
        </p:nvSpPr>
        <p:spPr>
          <a:xfrm>
            <a:off x="7871669" y="2624076"/>
            <a:ext cx="10314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−1.538***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99446" y="2524831"/>
            <a:ext cx="2066969" cy="502920"/>
          </a:xfrm>
          <a:prstGeom prst="rect">
            <a:avLst/>
          </a:prstGeom>
          <a:solidFill>
            <a:srgbClr val="F6F9FC"/>
          </a:solidFill>
          <a:ln w="508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8" name="TextBox 37"/>
          <p:cNvSpPr txBox="1"/>
          <p:nvPr/>
        </p:nvSpPr>
        <p:spPr>
          <a:xfrm>
            <a:off x="9836791" y="2624076"/>
            <a:ext cx="937063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+0.259**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3027751"/>
            <a:ext cx="28346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0" name="TextBox 39"/>
          <p:cNvSpPr txBox="1"/>
          <p:nvPr/>
        </p:nvSpPr>
        <p:spPr>
          <a:xfrm>
            <a:off x="1595657" y="3157773"/>
            <a:ext cx="114294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43447"/>
                </a:solidFill>
                <a:latin typeface="Arial"/>
                <a:ea typeface="Arial"/>
              </a:rPr>
              <a:t>Observations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84448" y="3027751"/>
            <a:ext cx="197083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2" name="TextBox 41"/>
          <p:cNvSpPr txBox="1"/>
          <p:nvPr/>
        </p:nvSpPr>
        <p:spPr>
          <a:xfrm>
            <a:off x="4104926" y="3126996"/>
            <a:ext cx="8763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297,980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58967" y="3027751"/>
            <a:ext cx="2066969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4" name="TextBox 43"/>
          <p:cNvSpPr txBox="1"/>
          <p:nvPr/>
        </p:nvSpPr>
        <p:spPr>
          <a:xfrm>
            <a:off x="6025165" y="3126996"/>
            <a:ext cx="8763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243447"/>
                </a:solidFill>
                <a:latin typeface="Arial"/>
                <a:ea typeface="Arial"/>
              </a:rPr>
              <a:t>297,980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24927" y="3027751"/>
            <a:ext cx="197083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6" name="TextBox 45"/>
          <p:cNvSpPr txBox="1"/>
          <p:nvPr/>
        </p:nvSpPr>
        <p:spPr>
          <a:xfrm>
            <a:off x="7945406" y="3126996"/>
            <a:ext cx="8763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243447"/>
                </a:solidFill>
                <a:latin typeface="Arial"/>
                <a:ea typeface="Arial"/>
              </a:rPr>
              <a:t>183,236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99446" y="3027751"/>
            <a:ext cx="2066969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8" name="TextBox 47"/>
          <p:cNvSpPr txBox="1"/>
          <p:nvPr/>
        </p:nvSpPr>
        <p:spPr>
          <a:xfrm>
            <a:off x="9865645" y="3126996"/>
            <a:ext cx="8763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0">
                <a:solidFill>
                  <a:srgbClr val="243447"/>
                </a:solidFill>
                <a:latin typeface="Arial"/>
                <a:ea typeface="Arial"/>
              </a:rPr>
              <a:t>183,236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8096" y="3785018"/>
            <a:ext cx="10515600" cy="1325214"/>
          </a:xfrm>
          <a:prstGeom prst="roundRect">
            <a:avLst>
              <a:gd name="adj" fmla="val 12000"/>
            </a:avLst>
          </a:prstGeom>
          <a:solidFill>
            <a:srgbClr val="ED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87552" y="3951421"/>
            <a:ext cx="1005840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0" i="0" dirty="0">
                <a:solidFill>
                  <a:srgbClr val="243447"/>
                </a:solidFill>
                <a:latin typeface="Arial"/>
                <a:ea typeface="Arial"/>
              </a:rPr>
              <a:t>Regressions include product and month fixed effects; standard errors are clustered at the HTS8 level. The sample includes products with positive imports from both China and Other Asia.</a:t>
            </a:r>
          </a:p>
          <a:p>
            <a:pPr algn="l"/>
            <a:r>
              <a:rPr lang="en-US" sz="1600" b="0" i="0" dirty="0">
                <a:solidFill>
                  <a:srgbClr val="243447"/>
                </a:solidFill>
                <a:latin typeface="Arial"/>
                <a:ea typeface="Arial"/>
              </a:rPr>
              <a:t>H</a:t>
            </a:r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igher relative tariffs are associated with lower U.S. imports from China and higher imports from Other Asia. The coefficients are log-regression estimates, not percentage-point changes.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257800"/>
            <a:ext cx="103327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These regressions document sourcing responses and motivate the model application; the paper’s welfare result comes from the calibrated structural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795089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53A63"/>
                </a:solidFill>
                <a:latin typeface="Arial"/>
                <a:ea typeface="Arial"/>
              </a:rPr>
              <a:t>How is the model matched to U.S.–China tariff facts?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4229"/>
            <a:ext cx="928459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The model is calibrated to initial import shares and estimated price and quantity responses.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762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52883" y="1938528"/>
            <a:ext cx="143199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Tariff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6601" y="2304288"/>
            <a:ext cx="72455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2F65A8"/>
                </a:solidFill>
                <a:latin typeface="Arial"/>
                <a:ea typeface="Arial"/>
              </a:rPr>
              <a:t>≈ 14%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422537" y="2715768"/>
                <a:ext cx="2092688" cy="215444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/>
                <a:r>
                  <a:rPr sz="1400" b="0" i="0" dirty="0">
                    <a:solidFill>
                      <a:srgbClr val="5F6F80"/>
                    </a:solidFill>
                    <a:latin typeface="Arial"/>
                    <a:ea typeface="Arial"/>
                  </a:rPr>
                  <a:t>Model tariff factor</a:t>
                </a:r>
                <a:r>
                  <a:rPr lang="en-US" sz="1400" b="0" i="0" dirty="0">
                    <a:solidFill>
                      <a:srgbClr val="5F6F80"/>
                    </a:solidFill>
                    <a:latin typeface="Arial"/>
                    <a:ea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400" i="1">
                        <a:solidFill>
                          <a:srgbClr val="263746"/>
                        </a:solidFill>
                        <a:latin typeface="Cambria Math" panose="02040503050406030204" pitchFamily="18" charset="0"/>
                        <a:ea typeface="Microsoft YaHei"/>
                        <a:cs typeface="Arial"/>
                      </a:rPr>
                      <m:t>𝜏</m:t>
                    </m:r>
                    <m:r>
                      <a:rPr lang="zh-CN" altLang="en-US" sz="1400" i="1" smtClean="0">
                        <a:solidFill>
                          <a:srgbClr val="263746"/>
                        </a:solidFill>
                        <a:latin typeface="Cambria Math" panose="02040503050406030204" pitchFamily="18" charset="0"/>
                        <a:ea typeface="Microsoft YaHei"/>
                        <a:cs typeface="Arial"/>
                      </a:rPr>
                      <m:t>≈</m:t>
                    </m:r>
                  </m:oMath>
                </a14:m>
                <a:r>
                  <a:rPr sz="1400" b="0" i="0" dirty="0">
                    <a:solidFill>
                      <a:srgbClr val="5F6F80"/>
                    </a:solidFill>
                    <a:latin typeface="Arial"/>
                    <a:ea typeface="Arial"/>
                  </a:rPr>
                  <a:t> 1.14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537" y="2715768"/>
                <a:ext cx="2092688" cy="215444"/>
              </a:xfrm>
              <a:prstGeom prst="rect">
                <a:avLst/>
              </a:prstGeom>
              <a:blipFill>
                <a:blip r:embed="rId2"/>
                <a:stretch>
                  <a:fillRect l="-4651" t="-28571" r="-4360" b="-4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762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5604" y="1938528"/>
            <a:ext cx="264175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U.S. imports from China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9725" y="2304288"/>
            <a:ext cx="251350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2F65A8"/>
                </a:solidFill>
                <a:latin typeface="Arial"/>
                <a:ea typeface="Arial"/>
              </a:rPr>
              <a:t>Log change ≈ −0.342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9432" y="2715768"/>
            <a:ext cx="325409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F6F80"/>
                </a:solidFill>
                <a:latin typeface="Arial"/>
                <a:ea typeface="Arial"/>
              </a:rPr>
              <a:t>Roughly a 34% decline; calibration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8308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762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2741" y="1938528"/>
            <a:ext cx="228267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Chinese export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7325" y="2304288"/>
            <a:ext cx="251350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2F65A8"/>
                </a:solidFill>
                <a:latin typeface="Arial"/>
                <a:ea typeface="Arial"/>
              </a:rPr>
              <a:t>Log change ≈ −0.021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6725" y="2715768"/>
            <a:ext cx="315471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F6F80"/>
                </a:solidFill>
                <a:latin typeface="Arial"/>
                <a:ea typeface="Arial"/>
              </a:rPr>
              <a:t>Roughly a 2% decline; calibration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520440"/>
            <a:ext cx="10652760" cy="14081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675887"/>
            <a:ext cx="751911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Model fit: relative change in import shares (Other Asia versus China)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069080"/>
            <a:ext cx="4389120" cy="685800"/>
          </a:xfrm>
          <a:prstGeom prst="roundRect">
            <a:avLst>
              <a:gd name="adj" fmla="val 12000"/>
            </a:avLst>
          </a:prstGeom>
          <a:solidFill>
            <a:srgbClr val="EDF4FB"/>
          </a:solidFill>
          <a:ln w="762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6424" y="4133087"/>
            <a:ext cx="160300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Observed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0873" y="4358675"/>
            <a:ext cx="64761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2F65A8"/>
                </a:solidFill>
                <a:latin typeface="Arial"/>
                <a:ea typeface="Arial"/>
              </a:rPr>
              <a:t>−0.96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4069080"/>
            <a:ext cx="4389120" cy="685800"/>
          </a:xfrm>
          <a:prstGeom prst="roundRect">
            <a:avLst>
              <a:gd name="adj" fmla="val 12000"/>
            </a:avLst>
          </a:prstGeom>
          <a:solidFill>
            <a:srgbClr val="EDF4FB"/>
          </a:solidFill>
          <a:ln w="762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81344" y="4133087"/>
            <a:ext cx="184665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Model prediction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5793" y="4358675"/>
            <a:ext cx="64761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2F65A8"/>
                </a:solidFill>
                <a:latin typeface="Arial"/>
                <a:ea typeface="Arial"/>
              </a:rPr>
              <a:t>−0.64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285232"/>
            <a:ext cx="104698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The model captures the direction and a substantial share of sourcing reallocation, but not every trade movement observed over the period.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6B523396-26EC-8C87-73E5-010E8C30A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741" y="138025"/>
            <a:ext cx="6868518" cy="65819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788677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MAIN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53A63"/>
                </a:solidFill>
                <a:latin typeface="Arial"/>
                <a:ea typeface="Arial"/>
              </a:rPr>
              <a:t>Main quantitative result: welfare loss of 0.12% of U.S. GDP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4229"/>
            <a:ext cx="878028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The result is a calibrated-model estimate, not a directly observed GDP growth decline.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19072"/>
            <a:ext cx="3200400" cy="2148840"/>
          </a:xfrm>
          <a:prstGeom prst="roundRect">
            <a:avLst>
              <a:gd name="adj" fmla="val 12000"/>
            </a:avLst>
          </a:prstGeom>
          <a:solidFill>
            <a:srgbClr val="153A6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27432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400" b="1" i="0" dirty="0">
                <a:solidFill>
                  <a:srgbClr val="FFFFFF"/>
                </a:solidFill>
                <a:latin typeface="Arial"/>
                <a:ea typeface="Arial"/>
              </a:rPr>
              <a:t>−0.12%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7702" y="2816352"/>
            <a:ext cx="2410916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Arial"/>
                <a:ea typeface="Arial"/>
              </a:rPr>
              <a:t>Overall welfare loss
as a share of U.S. GDP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19071"/>
            <a:ext cx="3154680" cy="1461019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719071"/>
            <a:ext cx="50292" cy="1461019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1883664"/>
            <a:ext cx="139781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Partial offset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340864"/>
            <a:ext cx="277063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Lower prices from Chinese suppliers offset part of the loss.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719071"/>
            <a:ext cx="3154680" cy="1461019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18120" y="1719071"/>
            <a:ext cx="50292" cy="1461019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19288" y="1883664"/>
            <a:ext cx="130805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Main losses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2340864"/>
            <a:ext cx="277063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Input sourcing shifts toward higher-cost alternatives.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5132" y="3509840"/>
            <a:ext cx="6537960" cy="1223274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501251"/>
            <a:ext cx="50292" cy="1223274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6007" y="3665843"/>
            <a:ext cx="165429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Additional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7" y="4123043"/>
            <a:ext cx="615391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Replacing incumbent supplier relationships requires search expenditures.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" y="4083380"/>
            <a:ext cx="29718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dirty="0">
                <a:solidFill>
                  <a:srgbClr val="2F65A8"/>
                </a:solidFill>
                <a:latin typeface="Arial"/>
                <a:ea typeface="Arial"/>
              </a:rPr>
              <a:t>≈ 1.04% of expenditure in the differentiated manufacturing sector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04876"/>
            <a:ext cx="10652760" cy="594360"/>
          </a:xfrm>
          <a:prstGeom prst="roundRect">
            <a:avLst>
              <a:gd name="adj" fmla="val 12000"/>
            </a:avLst>
          </a:prstGeom>
          <a:solidFill>
            <a:srgbClr val="ED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67344" y="5663556"/>
            <a:ext cx="896399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Substantial welfare costs come from changes in input sourcing and search costs.</a:t>
            </a:r>
          </a:p>
        </p:txBody>
      </p:sp>
      <p:sp>
        <p:nvSpPr>
          <p:cNvPr id="27" name="TextBox 28">
            <a:extLst>
              <a:ext uri="{FF2B5EF4-FFF2-40B4-BE49-F238E27FC236}">
                <a16:creationId xmlns:a16="http://schemas.microsoft.com/office/drawing/2014/main" id="{D4EF5301-32CE-9065-1D62-D3292F8C4873}"/>
              </a:ext>
            </a:extLst>
          </p:cNvPr>
          <p:cNvSpPr txBox="1"/>
          <p:nvPr/>
        </p:nvSpPr>
        <p:spPr>
          <a:xfrm>
            <a:off x="868680" y="5012731"/>
            <a:ext cx="104698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0" i="0" dirty="0">
                <a:solidFill>
                  <a:srgbClr val="5F6F80"/>
                </a:solidFill>
                <a:latin typeface="Arial"/>
                <a:ea typeface="Arial"/>
              </a:rPr>
              <a:t>Chinese import prices fell by about 2.14%, yet overall U.S. terms of trade deteriorated by 0.45%.</a:t>
            </a:r>
            <a:endParaRPr b="0" i="0" dirty="0">
              <a:solidFill>
                <a:srgbClr val="5F6F8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801501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53A63"/>
                </a:solidFill>
                <a:latin typeface="Arial"/>
                <a:ea typeface="Arial"/>
              </a:rPr>
              <a:t>Robustness: do results depend on one parameterization?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9618"/>
            <a:ext cx="624049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5F6F80"/>
                </a:solidFill>
                <a:latin typeface="Arial"/>
                <a:ea typeface="Arial"/>
              </a:rPr>
              <a:t>The authors vary key parameters and alternative sourcing scenarios.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1418" y="2839610"/>
            <a:ext cx="4154362" cy="901864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762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6010" y="2967626"/>
            <a:ext cx="2354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Baseline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044" y="2958481"/>
            <a:ext cx="78896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b="1" i="0" dirty="0">
                <a:solidFill>
                  <a:srgbClr val="2F65A8"/>
                </a:solidFill>
                <a:latin typeface="Arial"/>
                <a:ea typeface="Arial"/>
              </a:rPr>
              <a:t>−0.12%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010" y="3369962"/>
            <a:ext cx="31601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Baseline parameterization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0751" y="1555967"/>
            <a:ext cx="6297809" cy="998147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762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205344" y="1683984"/>
                <a:ext cx="305536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b="1" i="0" dirty="0">
                    <a:solidFill>
                      <a:srgbClr val="153A63"/>
                    </a:solidFill>
                    <a:latin typeface="Arial"/>
                    <a:ea typeface="Arial"/>
                  </a:rPr>
                  <a:t>Vary match-distribution 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153A63"/>
                        </a:solidFill>
                        <a:latin typeface="Cambria Math" panose="02040503050406030204" pitchFamily="18" charset="0"/>
                        <a:ea typeface="Arial"/>
                      </a:rPr>
                      <m:t>𝜽</m:t>
                    </m:r>
                  </m:oMath>
                </a14:m>
                <a:endParaRPr b="1" i="0" dirty="0">
                  <a:solidFill>
                    <a:srgbClr val="153A63"/>
                  </a:solidFill>
                  <a:latin typeface="Arial"/>
                  <a:ea typeface="Arial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344" y="1683984"/>
                <a:ext cx="3055365" cy="276999"/>
              </a:xfrm>
              <a:prstGeom prst="rect">
                <a:avLst/>
              </a:prstGeom>
              <a:blipFill>
                <a:blip r:embed="rId2"/>
                <a:stretch>
                  <a:fillRect l="-4790" t="-28261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9010856" y="1674839"/>
            <a:ext cx="212653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b="1" i="0" dirty="0">
                <a:solidFill>
                  <a:srgbClr val="2F65A8"/>
                </a:solidFill>
                <a:latin typeface="Arial"/>
                <a:ea typeface="Arial"/>
              </a:rPr>
              <a:t>−0.07% to −0.13%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5344" y="2086320"/>
            <a:ext cx="191169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F6F80"/>
                </a:solidFill>
                <a:latin typeface="Arial"/>
                <a:ea typeface="Arial"/>
              </a:rPr>
              <a:t>Parameter range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0751" y="2723645"/>
            <a:ext cx="6297809" cy="998147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762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05344" y="2851662"/>
            <a:ext cx="438833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Capital and intermediate goods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966" y="2842517"/>
            <a:ext cx="87130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b="1" i="0" dirty="0">
                <a:solidFill>
                  <a:srgbClr val="2F65A8"/>
                </a:solidFill>
                <a:latin typeface="Arial"/>
                <a:ea typeface="Arial"/>
              </a:rPr>
              <a:t>−0.09%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5343" y="3253997"/>
            <a:ext cx="330816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5F6F80"/>
                </a:solidFill>
                <a:latin typeface="Arial"/>
                <a:ea typeface="Arial"/>
              </a:rPr>
              <a:t>Excludes consumption goods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40751" y="3888818"/>
            <a:ext cx="6297809" cy="998147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7620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05344" y="4016835"/>
            <a:ext cx="532528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 i="0" dirty="0">
                <a:solidFill>
                  <a:srgbClr val="153A63"/>
                </a:solidFill>
                <a:latin typeface="Arial"/>
                <a:ea typeface="Arial"/>
              </a:rPr>
              <a:t>New supplier relationships are formed in the U.S. rather than in Other Asia</a:t>
            </a:r>
            <a:endParaRPr b="1" i="0" dirty="0">
              <a:solidFill>
                <a:srgbClr val="153A63"/>
              </a:solidFill>
              <a:latin typeface="Arial"/>
              <a:ea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10050" y="4012910"/>
            <a:ext cx="85721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b="1" i="0" dirty="0">
                <a:solidFill>
                  <a:srgbClr val="2F65A8"/>
                </a:solidFill>
                <a:latin typeface="Arial"/>
                <a:ea typeface="Arial"/>
              </a:rPr>
              <a:t>−0.11%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5344" y="4570563"/>
            <a:ext cx="287052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Relocation counterfactual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026474"/>
            <a:ext cx="10561320" cy="740665"/>
          </a:xfrm>
          <a:prstGeom prst="roundRect">
            <a:avLst>
              <a:gd name="adj" fmla="val 12000"/>
            </a:avLst>
          </a:prstGeom>
          <a:solidFill>
            <a:srgbClr val="153A6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5127179"/>
            <a:ext cx="101498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i="0" dirty="0">
                <a:solidFill>
                  <a:srgbClr val="FFFFFF"/>
                </a:solidFill>
                <a:latin typeface="Arial"/>
                <a:ea typeface="Arial"/>
              </a:rPr>
              <a:t>The welfare effect remains negative in these scenarios, but its magnitude varies with parameters and assumptions.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7024" y="5877974"/>
            <a:ext cx="928459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Robustness within selected scenarios does not validate every possible model specification.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话气泡: 圆角矩形 6">
                <a:extLst>
                  <a:ext uri="{FF2B5EF4-FFF2-40B4-BE49-F238E27FC236}">
                    <a16:creationId xmlns:a16="http://schemas.microsoft.com/office/drawing/2014/main" id="{8A617CE9-F197-10C2-68F1-E609DC1D6B2B}"/>
                  </a:ext>
                </a:extLst>
              </p:cNvPr>
              <p:cNvSpPr/>
              <p:nvPr/>
            </p:nvSpPr>
            <p:spPr>
              <a:xfrm>
                <a:off x="7399513" y="2070710"/>
                <a:ext cx="4388338" cy="747647"/>
              </a:xfrm>
              <a:prstGeom prst="wedgeRoundRectCallout">
                <a:avLst>
                  <a:gd name="adj1" fmla="val -36155"/>
                  <a:gd name="adj2" fmla="val -67753"/>
                  <a:gd name="adj3" fmla="val 16667"/>
                </a:avLst>
              </a:prstGeom>
              <a:solidFill>
                <a:srgbClr val="2F65A8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400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zh-CN" sz="1400" dirty="0"/>
                  <a:t> is the Pareto shape parameter governing dispersion in supplier match productivity. A higher </a:t>
                </a:r>
                <a14:m>
                  <m:oMath xmlns:m="http://schemas.openxmlformats.org/officeDocument/2006/math">
                    <m:r>
                      <a:rPr lang="zh-CN" altLang="en-US" sz="140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zh-CN" sz="1400" dirty="0"/>
                  <a:t> implies less dispersion in productivity 1/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400" dirty="0"/>
                  <a:t> and in supplier costs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400" dirty="0"/>
                  <a:t>.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7" name="对话气泡: 圆角矩形 6">
                <a:extLst>
                  <a:ext uri="{FF2B5EF4-FFF2-40B4-BE49-F238E27FC236}">
                    <a16:creationId xmlns:a16="http://schemas.microsoft.com/office/drawing/2014/main" id="{8A617CE9-F197-10C2-68F1-E609DC1D6B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9513" y="2070710"/>
                <a:ext cx="4388338" cy="747647"/>
              </a:xfrm>
              <a:prstGeom prst="wedgeRoundRectCallout">
                <a:avLst>
                  <a:gd name="adj1" fmla="val -36155"/>
                  <a:gd name="adj2" fmla="val -67753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775853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53A63"/>
                </a:solidFill>
                <a:latin typeface="Arial"/>
                <a:ea typeface="Arial"/>
              </a:rPr>
              <a:t>The paper in three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9618"/>
            <a:ext cx="8902565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5F6F80"/>
                </a:solidFill>
                <a:latin typeface="Arial"/>
                <a:ea typeface="Arial"/>
              </a:rPr>
              <a:t>The paper explains how unanticipated input tariffs disrupt existing firm-to-firm supply relationships.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5805"/>
            <a:ext cx="3401568" cy="2192744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ectangle 9"/>
          <p:cNvSpPr/>
          <p:nvPr/>
        </p:nvSpPr>
        <p:spPr>
          <a:xfrm>
            <a:off x="777240" y="1785805"/>
            <a:ext cx="50292" cy="2192744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Oval 10"/>
          <p:cNvSpPr/>
          <p:nvPr/>
        </p:nvSpPr>
        <p:spPr>
          <a:xfrm>
            <a:off x="960120" y="1950397"/>
            <a:ext cx="274320" cy="313249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1054800" y="1995225"/>
            <a:ext cx="8496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1950398"/>
            <a:ext cx="100027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407598"/>
            <a:ext cx="301752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How do tariffs disrupt existing firm-to-firm supply relationships?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785805"/>
            <a:ext cx="3401568" cy="2192744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ectangle 15"/>
          <p:cNvSpPr/>
          <p:nvPr/>
        </p:nvSpPr>
        <p:spPr>
          <a:xfrm>
            <a:off x="4389120" y="1785805"/>
            <a:ext cx="50292" cy="2192744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Oval 16"/>
          <p:cNvSpPr/>
          <p:nvPr/>
        </p:nvSpPr>
        <p:spPr>
          <a:xfrm>
            <a:off x="4572000" y="1950397"/>
            <a:ext cx="274320" cy="313249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4666680" y="1995225"/>
            <a:ext cx="8496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950398"/>
            <a:ext cx="125675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407598"/>
            <a:ext cx="301752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Search costs, match quality, and bilateral bargaining determine whether firms renegotiate or replace suppliers.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785805"/>
            <a:ext cx="3401568" cy="2192744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ectangle 21"/>
          <p:cNvSpPr/>
          <p:nvPr/>
        </p:nvSpPr>
        <p:spPr>
          <a:xfrm>
            <a:off x="8001000" y="1785805"/>
            <a:ext cx="50292" cy="2192744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Oval 22"/>
          <p:cNvSpPr/>
          <p:nvPr/>
        </p:nvSpPr>
        <p:spPr>
          <a:xfrm>
            <a:off x="8183879" y="1950397"/>
            <a:ext cx="274320" cy="313249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8278559" y="1995225"/>
            <a:ext cx="8496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1950398"/>
            <a:ext cx="70532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2407598"/>
            <a:ext cx="301752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The calibrated model estimates a welfare loss of about 0.12% of GDP; sourcing shifts and search costs contribute substantially.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632864"/>
            <a:ext cx="10607040" cy="822960"/>
          </a:xfrm>
          <a:prstGeom prst="roundRect">
            <a:avLst>
              <a:gd name="adj" fmla="val 12000"/>
            </a:avLst>
          </a:prstGeom>
          <a:solidFill>
            <a:srgbClr val="153A6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" y="4758201"/>
            <a:ext cx="101955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Arial"/>
                <a:ea typeface="Arial"/>
              </a:rPr>
              <a:t>Key boundary: the paper explains the costs of supply-chain reorganization; it does not directly establish that reorganization improves resilience.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666849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53A63"/>
                </a:solidFill>
                <a:latin typeface="Arial"/>
                <a:ea typeface="Arial"/>
              </a:rPr>
              <a:t>Does supply-chain reorganization necessarily improve resilience?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14229"/>
            <a:ext cx="817332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5F6F80"/>
                </a:solidFill>
                <a:latin typeface="Arial"/>
                <a:ea typeface="Arial"/>
              </a:rPr>
              <a:t>An extension based on the paper’s scope—not a finding claimed by the authors.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37141"/>
            <a:ext cx="5029200" cy="1527363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637141"/>
            <a:ext cx="50292" cy="1527363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1801733"/>
            <a:ext cx="265457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What the paper explains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258933"/>
            <a:ext cx="4645152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Tariffs change search, bargaining, and sourcing; reorganization creates search and replacement costs.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37141"/>
            <a:ext cx="5029200" cy="1527363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637141"/>
            <a:ext cx="50292" cy="1527363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801733"/>
            <a:ext cx="319318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altLang="zh-CN" b="1" i="0" dirty="0">
                <a:solidFill>
                  <a:srgbClr val="153A63"/>
                </a:solidFill>
                <a:latin typeface="Arial"/>
                <a:ea typeface="Arial"/>
              </a:rPr>
              <a:t>The </a:t>
            </a:r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paper does not establish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258933"/>
            <a:ext cx="4645152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It does not directly show whether new suppliers help firms recover faster, avoid shutdowns, or reduce price volatility.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98119"/>
            <a:ext cx="327012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Potential research extensions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1" y="3892221"/>
            <a:ext cx="91440" cy="9144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1115569" y="3828212"/>
            <a:ext cx="748923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Does a larger supplier base imply that inputs are genuinely substitutable?</a:t>
            </a:r>
          </a:p>
        </p:txBody>
      </p:sp>
      <p:sp>
        <p:nvSpPr>
          <p:cNvPr id="20" name="Oval 19"/>
          <p:cNvSpPr/>
          <p:nvPr/>
        </p:nvSpPr>
        <p:spPr>
          <a:xfrm>
            <a:off x="914401" y="4376851"/>
            <a:ext cx="91440" cy="9144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1115569" y="4312843"/>
            <a:ext cx="674543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Can short-run search costs buy lower losses in future disruptions?</a:t>
            </a:r>
          </a:p>
        </p:txBody>
      </p:sp>
      <p:sp>
        <p:nvSpPr>
          <p:cNvPr id="22" name="Oval 21"/>
          <p:cNvSpPr/>
          <p:nvPr/>
        </p:nvSpPr>
        <p:spPr>
          <a:xfrm>
            <a:off x="914401" y="4825630"/>
            <a:ext cx="91440" cy="91440"/>
          </a:xfrm>
          <a:prstGeom prst="ellipse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1115569" y="4761622"/>
            <a:ext cx="1015565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243447"/>
                </a:solidFill>
                <a:latin typeface="Arial"/>
                <a:ea typeface="Arial"/>
              </a:rPr>
              <a:t>Should resilience be measured by inventories, shutdowns, sales volatility, delivery times, or recovery speed?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3" y="5468715"/>
            <a:ext cx="10484843" cy="736564"/>
          </a:xfrm>
          <a:prstGeom prst="roundRect">
            <a:avLst>
              <a:gd name="adj" fmla="val 12000"/>
            </a:avLst>
          </a:prstGeom>
          <a:solidFill>
            <a:srgbClr val="ED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" y="5532724"/>
            <a:ext cx="1011695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Assessment: </a:t>
            </a:r>
            <a:endParaRPr lang="en-US" b="1" i="0" dirty="0">
              <a:solidFill>
                <a:srgbClr val="153A63"/>
              </a:solidFill>
              <a:latin typeface="Arial"/>
              <a:ea typeface="Arial"/>
            </a:endParaRPr>
          </a:p>
          <a:p>
            <a:r>
              <a:rPr lang="en-US" altLang="zh-CN" b="1" dirty="0">
                <a:solidFill>
                  <a:srgbClr val="153A63"/>
                </a:solidFill>
                <a:latin typeface="Arial"/>
                <a:ea typeface="Arial"/>
              </a:rPr>
              <a:t>T</a:t>
            </a:r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he paper explains the cost of reorganization; its resilience effects remain an open question.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33086"/>
            <a:ext cx="1064394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2F65A8"/>
                </a:solidFill>
                <a:latin typeface="Arial"/>
                <a:ea typeface="Arial"/>
              </a:rPr>
              <a:t>CHINA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10185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53A63"/>
                </a:solidFill>
                <a:latin typeface="Arial"/>
                <a:ea typeface="Arial"/>
              </a:rPr>
              <a:t>Applying the mechanisms to China: from tariff exposure to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9618"/>
            <a:ext cx="7878632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5F6F80"/>
                </a:solidFill>
                <a:latin typeface="Arial"/>
                <a:ea typeface="Arial"/>
              </a:rPr>
              <a:t>Potential questions and data sources—not direct implications established by the paper.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8890">
            <a:solidFill>
              <a:srgbClr val="D6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37392" y="6510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2F65A8"/>
                </a:solidFill>
                <a:latin typeface="Arial"/>
                <a:ea typeface="Arial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91640"/>
            <a:ext cx="3364992" cy="173736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749808" y="1691640"/>
            <a:ext cx="50292" cy="173736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950976" y="1856232"/>
            <a:ext cx="107721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Firm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13432"/>
            <a:ext cx="2980944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Do Chinese exporters diversify destinations, invest overseas, or switch input sources after external tariff shocks?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691640"/>
            <a:ext cx="3364992" cy="173736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4407408" y="1691640"/>
            <a:ext cx="50292" cy="173736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4608576" y="1856232"/>
            <a:ext cx="185954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Value-chain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13432"/>
            <a:ext cx="2980944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Does higher third-country exports reflect higher local value added or continued reliance on Chinese inputs?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691640"/>
            <a:ext cx="3364992" cy="173736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8255">
            <a:solidFill>
              <a:srgbClr val="D6E2E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8065008" y="1691640"/>
            <a:ext cx="50292" cy="1737360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8266176" y="1856232"/>
            <a:ext cx="171841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Resilience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313432"/>
            <a:ext cx="2980944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After supplier concentration falls, do output, delivery times, and sales volatility improve during disruptions?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98880"/>
            <a:ext cx="246221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53A63"/>
                </a:solidFill>
                <a:latin typeface="Arial"/>
                <a:ea typeface="Arial"/>
              </a:rPr>
              <a:t>Potential data sources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37772"/>
            <a:ext cx="50292" cy="1461293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978408" y="4502365"/>
            <a:ext cx="216726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Firm annual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959565"/>
            <a:ext cx="286207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Supplier/customer concentration, overseas operations, risk disclosures.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4337772"/>
            <a:ext cx="50292" cy="1461293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4636007" y="4502365"/>
            <a:ext cx="215443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Customs trade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7" y="4959565"/>
            <a:ext cx="286207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Product × source country × month import/export adjustments.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337772"/>
            <a:ext cx="50292" cy="1461293"/>
          </a:xfrm>
          <a:prstGeom prst="rect">
            <a:avLst/>
          </a:prstGeom>
          <a:solidFill>
            <a:srgbClr val="2F65A8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8293608" y="4502365"/>
            <a:ext cx="205620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53A63"/>
                </a:solidFill>
                <a:latin typeface="Arial"/>
                <a:ea typeface="Arial"/>
              </a:rPr>
              <a:t>Input-output / TiVA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4959565"/>
            <a:ext cx="286207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43447"/>
                </a:solidFill>
                <a:latin typeface="Arial"/>
                <a:ea typeface="Arial"/>
              </a:rPr>
              <a:t>Domestic value added and cross-border intermediate-input links.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A6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8E5C08-7C2F-3621-0067-94ED07B3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E4B323-898A-E185-A939-0307E89A33A5}"/>
              </a:ext>
            </a:extLst>
          </p:cNvPr>
          <p:cNvSpPr/>
          <p:nvPr/>
        </p:nvSpPr>
        <p:spPr>
          <a:xfrm>
            <a:off x="566928" y="713232"/>
            <a:ext cx="73152" cy="5303520"/>
          </a:xfrm>
          <a:prstGeom prst="rect">
            <a:avLst/>
          </a:prstGeom>
          <a:solidFill>
            <a:srgbClr val="4B83C3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504FA2-86F3-9B1D-0167-6A6F6E91CCA6}"/>
              </a:ext>
            </a:extLst>
          </p:cNvPr>
          <p:cNvSpPr txBox="1"/>
          <p:nvPr/>
        </p:nvSpPr>
        <p:spPr>
          <a:xfrm>
            <a:off x="932688" y="1174487"/>
            <a:ext cx="10579063" cy="30718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+mn-cs"/>
              </a:rPr>
              <a:t>恳请批评指正！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+mn-cs"/>
              </a:rPr>
              <a:t>谢谢！</a:t>
            </a:r>
            <a:endParaRPr kumimoji="0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89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2202</Words>
  <Application>Microsoft Office PowerPoint</Application>
  <PresentationFormat>宽屏</PresentationFormat>
  <Paragraphs>297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jiak Lei</cp:lastModifiedBy>
  <cp:revision>4</cp:revision>
  <dcterms:created xsi:type="dcterms:W3CDTF">2013-01-27T09:14:16Z</dcterms:created>
  <dcterms:modified xsi:type="dcterms:W3CDTF">2026-10-10T03:15:26Z</dcterms:modified>
  <cp:category/>
</cp:coreProperties>
</file>